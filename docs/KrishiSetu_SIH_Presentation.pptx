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F0C6"/>
    <a:srgbClr val="00602B"/>
    <a:srgbClr val="D6BBEB"/>
    <a:srgbClr val="C9E7A7"/>
    <a:srgbClr val="FF6600"/>
    <a:srgbClr val="9C5BCD"/>
    <a:srgbClr val="9FE6FF"/>
    <a:srgbClr val="E4D2F2"/>
    <a:srgbClr val="DAC2EC"/>
    <a:srgbClr val="BAFD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Sharma" userId="b45f6b920c975439" providerId="LiveId" clId="{84AE2BDA-667D-4B69-B5BA-E3017C6D06F8}"/>
    <pc:docChg chg="modSld">
      <pc:chgData name="Krishna Sharma" userId="b45f6b920c975439" providerId="LiveId" clId="{84AE2BDA-667D-4B69-B5BA-E3017C6D06F8}" dt="2026-09-13T11:25:20.971" v="3" actId="1076"/>
      <pc:docMkLst>
        <pc:docMk/>
      </pc:docMkLst>
      <pc:sldChg chg="modSp mod">
        <pc:chgData name="Krishna Sharma" userId="b45f6b920c975439" providerId="LiveId" clId="{84AE2BDA-667D-4B69-B5BA-E3017C6D06F8}" dt="2026-09-13T11:25:20.971" v="3" actId="1076"/>
        <pc:sldMkLst>
          <pc:docMk/>
          <pc:sldMk cId="2997144140" sldId="294"/>
        </pc:sldMkLst>
        <pc:picChg chg="mod">
          <ac:chgData name="Krishna Sharma" userId="b45f6b920c975439" providerId="LiveId" clId="{84AE2BDA-667D-4B69-B5BA-E3017C6D06F8}" dt="2026-09-13T11:25:20.971" v="3" actId="1076"/>
          <ac:picMkLst>
            <pc:docMk/>
            <pc:sldMk cId="2997144140" sldId="294"/>
            <ac:picMk id="24" creationId="{28A2EB45-5DE1-0E64-0F7A-A5D98DD0B3DF}"/>
          </ac:picMkLst>
        </pc:picChg>
        <pc:picChg chg="mod">
          <ac:chgData name="Krishna Sharma" userId="b45f6b920c975439" providerId="LiveId" clId="{84AE2BDA-667D-4B69-B5BA-E3017C6D06F8}" dt="2026-09-13T11:24:59.771" v="2" actId="1076"/>
          <ac:picMkLst>
            <pc:docMk/>
            <pc:sldMk cId="2997144140" sldId="294"/>
            <ac:picMk id="28" creationId="{C798F7C2-DAF3-4F51-A6FE-48C8517DD0B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CF3-4AF6-8463-08F897F65051}"/>
              </c:ext>
            </c:extLst>
          </c:dPt>
          <c:dPt>
            <c:idx val="1"/>
            <c:bubble3D val="0"/>
            <c:spPr>
              <a:solidFill>
                <a:srgbClr val="92D05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6CF3-4AF6-8463-08F897F65051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CF3-4AF6-8463-08F897F6505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6CF3-4AF6-8463-08F897F65051}"/>
              </c:ext>
            </c:extLst>
          </c:dPt>
          <c:dLbls>
            <c:dLbl>
              <c:idx val="0"/>
              <c:layout>
                <c:manualLayout>
                  <c:x val="-0.17344644096673831"/>
                  <c:y val="-0.30831649971512337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F3-4AF6-8463-08F897F6505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CF3-4AF6-8463-08F897F650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0.85</c:v>
                </c:pt>
                <c:pt idx="1">
                  <c:v>0.1</c:v>
                </c:pt>
                <c:pt idx="2">
                  <c:v>0.05</c:v>
                </c:pt>
                <c:pt idx="3" formatCode="General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F3-4AF6-8463-08F897F65051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microsoft.com/office/2007/relationships/hdphoto" Target="../media/hdphoto7.wdp"/><Relationship Id="rId26" Type="http://schemas.openxmlformats.org/officeDocument/2006/relationships/image" Target="../media/image17.png"/><Relationship Id="rId21" Type="http://schemas.openxmlformats.org/officeDocument/2006/relationships/image" Target="../media/image14.png"/><Relationship Id="rId34" Type="http://schemas.microsoft.com/office/2007/relationships/hdphoto" Target="../media/hdphoto13.wdp"/><Relationship Id="rId7" Type="http://schemas.openxmlformats.org/officeDocument/2006/relationships/image" Target="../media/image5.png"/><Relationship Id="rId12" Type="http://schemas.microsoft.com/office/2007/relationships/hdphoto" Target="../media/hdphoto5.wdp"/><Relationship Id="rId17" Type="http://schemas.openxmlformats.org/officeDocument/2006/relationships/image" Target="../media/image11.png"/><Relationship Id="rId25" Type="http://schemas.microsoft.com/office/2007/relationships/hdphoto" Target="../media/hdphoto9.wdp"/><Relationship Id="rId3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svg"/><Relationship Id="rId20" Type="http://schemas.openxmlformats.org/officeDocument/2006/relationships/image" Target="../media/image13.png"/><Relationship Id="rId29" Type="http://schemas.microsoft.com/office/2007/relationships/hdphoto" Target="../media/hdphoto11.wdp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7.png"/><Relationship Id="rId24" Type="http://schemas.openxmlformats.org/officeDocument/2006/relationships/image" Target="../media/image16.png"/><Relationship Id="rId32" Type="http://schemas.microsoft.com/office/2007/relationships/hdphoto" Target="../media/hdphoto12.wdp"/><Relationship Id="rId37" Type="http://schemas.openxmlformats.org/officeDocument/2006/relationships/image" Target="../media/image2.png"/><Relationship Id="rId5" Type="http://schemas.openxmlformats.org/officeDocument/2006/relationships/image" Target="../media/image4.png"/><Relationship Id="rId15" Type="http://schemas.openxmlformats.org/officeDocument/2006/relationships/image" Target="../media/image9.svg"/><Relationship Id="rId23" Type="http://schemas.microsoft.com/office/2007/relationships/hdphoto" Target="../media/hdphoto8.wdp"/><Relationship Id="rId28" Type="http://schemas.openxmlformats.org/officeDocument/2006/relationships/image" Target="../media/image18.png"/><Relationship Id="rId36" Type="http://schemas.openxmlformats.org/officeDocument/2006/relationships/image" Target="../media/image23.svg"/><Relationship Id="rId10" Type="http://schemas.microsoft.com/office/2007/relationships/hdphoto" Target="../media/hdphoto4.wdp"/><Relationship Id="rId19" Type="http://schemas.openxmlformats.org/officeDocument/2006/relationships/image" Target="../media/image12.png"/><Relationship Id="rId31" Type="http://schemas.openxmlformats.org/officeDocument/2006/relationships/image" Target="../media/image20.png"/><Relationship Id="rId4" Type="http://schemas.microsoft.com/office/2007/relationships/hdphoto" Target="../media/hdphoto1.wdp"/><Relationship Id="rId9" Type="http://schemas.openxmlformats.org/officeDocument/2006/relationships/image" Target="../media/image6.png"/><Relationship Id="rId14" Type="http://schemas.microsoft.com/office/2007/relationships/hdphoto" Target="../media/hdphoto6.wdp"/><Relationship Id="rId22" Type="http://schemas.openxmlformats.org/officeDocument/2006/relationships/image" Target="../media/image15.png"/><Relationship Id="rId27" Type="http://schemas.microsoft.com/office/2007/relationships/hdphoto" Target="../media/hdphoto10.wdp"/><Relationship Id="rId30" Type="http://schemas.openxmlformats.org/officeDocument/2006/relationships/image" Target="../media/image19.png"/><Relationship Id="rId35" Type="http://schemas.openxmlformats.org/officeDocument/2006/relationships/image" Target="../media/image22.svg"/><Relationship Id="rId8" Type="http://schemas.microsoft.com/office/2007/relationships/hdphoto" Target="../media/hdphoto3.wdp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7.png"/><Relationship Id="rId18" Type="http://schemas.openxmlformats.org/officeDocument/2006/relationships/image" Target="../media/image33.svg"/><Relationship Id="rId3" Type="http://schemas.openxmlformats.org/officeDocument/2006/relationships/image" Target="../media/image2.png"/><Relationship Id="rId21" Type="http://schemas.microsoft.com/office/2007/relationships/hdphoto" Target="../media/hdphoto16.wdp"/><Relationship Id="rId7" Type="http://schemas.openxmlformats.org/officeDocument/2006/relationships/image" Target="../media/image27.svg"/><Relationship Id="rId12" Type="http://schemas.openxmlformats.org/officeDocument/2006/relationships/image" Target="../media/image22.svg"/><Relationship Id="rId17" Type="http://schemas.microsoft.com/office/2007/relationships/hdphoto" Target="../media/hdphoto15.wdp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2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30.svg"/><Relationship Id="rId24" Type="http://schemas.openxmlformats.org/officeDocument/2006/relationships/image" Target="../media/image38.svg"/><Relationship Id="rId5" Type="http://schemas.openxmlformats.org/officeDocument/2006/relationships/image" Target="../media/image25.svg"/><Relationship Id="rId15" Type="http://schemas.openxmlformats.org/officeDocument/2006/relationships/image" Target="../media/image31.png"/><Relationship Id="rId23" Type="http://schemas.openxmlformats.org/officeDocument/2006/relationships/image" Target="../media/image37.svg"/><Relationship Id="rId10" Type="http://schemas.openxmlformats.org/officeDocument/2006/relationships/image" Target="../media/image29.svg"/><Relationship Id="rId19" Type="http://schemas.openxmlformats.org/officeDocument/2006/relationships/image" Target="../media/image34.svg"/><Relationship Id="rId4" Type="http://schemas.openxmlformats.org/officeDocument/2006/relationships/image" Target="../media/image24.svg"/><Relationship Id="rId9" Type="http://schemas.microsoft.com/office/2007/relationships/hdphoto" Target="../media/hdphoto14.wdp"/><Relationship Id="rId14" Type="http://schemas.microsoft.com/office/2007/relationships/hdphoto" Target="../media/hdphoto10.wdp"/><Relationship Id="rId22" Type="http://schemas.openxmlformats.org/officeDocument/2006/relationships/image" Target="../media/image3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2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5" Type="http://schemas.microsoft.com/office/2007/relationships/hdphoto" Target="../media/hdphoto17.wdp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3" Type="http://schemas.microsoft.com/office/2007/relationships/hdphoto" Target="../media/hdphoto19.wdp"/><Relationship Id="rId18" Type="http://schemas.openxmlformats.org/officeDocument/2006/relationships/image" Target="../media/image70.svg"/><Relationship Id="rId26" Type="http://schemas.openxmlformats.org/officeDocument/2006/relationships/image" Target="../media/image76.png"/><Relationship Id="rId3" Type="http://schemas.openxmlformats.org/officeDocument/2006/relationships/image" Target="../media/image2.png"/><Relationship Id="rId21" Type="http://schemas.microsoft.com/office/2007/relationships/hdphoto" Target="../media/hdphoto22.wdp"/><Relationship Id="rId7" Type="http://schemas.microsoft.com/office/2007/relationships/hdphoto" Target="../media/hdphoto16.wdp"/><Relationship Id="rId12" Type="http://schemas.openxmlformats.org/officeDocument/2006/relationships/image" Target="../media/image67.png"/><Relationship Id="rId17" Type="http://schemas.microsoft.com/office/2007/relationships/hdphoto" Target="../media/hdphoto21.wdp"/><Relationship Id="rId25" Type="http://schemas.openxmlformats.org/officeDocument/2006/relationships/image" Target="../media/image75.svg"/><Relationship Id="rId33" Type="http://schemas.microsoft.com/office/2007/relationships/hdphoto" Target="../media/hdphoto8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9.png"/><Relationship Id="rId20" Type="http://schemas.openxmlformats.org/officeDocument/2006/relationships/image" Target="../media/image72.png"/><Relationship Id="rId29" Type="http://schemas.microsoft.com/office/2007/relationships/hdphoto" Target="../media/hdphoto25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6.svg"/><Relationship Id="rId24" Type="http://schemas.openxmlformats.org/officeDocument/2006/relationships/image" Target="../media/image74.svg"/><Relationship Id="rId32" Type="http://schemas.openxmlformats.org/officeDocument/2006/relationships/image" Target="../media/image15.png"/><Relationship Id="rId5" Type="http://schemas.openxmlformats.org/officeDocument/2006/relationships/image" Target="../media/image62.svg"/><Relationship Id="rId15" Type="http://schemas.microsoft.com/office/2007/relationships/hdphoto" Target="../media/hdphoto20.wdp"/><Relationship Id="rId23" Type="http://schemas.microsoft.com/office/2007/relationships/hdphoto" Target="../media/hdphoto23.wdp"/><Relationship Id="rId28" Type="http://schemas.openxmlformats.org/officeDocument/2006/relationships/image" Target="../media/image77.png"/><Relationship Id="rId10" Type="http://schemas.microsoft.com/office/2007/relationships/hdphoto" Target="../media/hdphoto18.wdp"/><Relationship Id="rId19" Type="http://schemas.openxmlformats.org/officeDocument/2006/relationships/image" Target="../media/image71.svg"/><Relationship Id="rId31" Type="http://schemas.microsoft.com/office/2007/relationships/hdphoto" Target="../media/hdphoto26.wdp"/><Relationship Id="rId4" Type="http://schemas.openxmlformats.org/officeDocument/2006/relationships/image" Target="../media/image61.svg"/><Relationship Id="rId9" Type="http://schemas.openxmlformats.org/officeDocument/2006/relationships/image" Target="../media/image65.png"/><Relationship Id="rId14" Type="http://schemas.openxmlformats.org/officeDocument/2006/relationships/image" Target="../media/image68.png"/><Relationship Id="rId22" Type="http://schemas.openxmlformats.org/officeDocument/2006/relationships/image" Target="../media/image73.png"/><Relationship Id="rId27" Type="http://schemas.microsoft.com/office/2007/relationships/hdphoto" Target="../media/hdphoto24.wdp"/><Relationship Id="rId30" Type="http://schemas.openxmlformats.org/officeDocument/2006/relationships/image" Target="../media/image78.png"/><Relationship Id="rId8" Type="http://schemas.openxmlformats.org/officeDocument/2006/relationships/image" Target="../media/image6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55005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054" y="906760"/>
            <a:ext cx="7758926" cy="574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IN" sz="2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SIH26033</a:t>
            </a:r>
            <a:endParaRPr lang="en-US" sz="2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intermediaries reduce farmers earnings and increase consumer prices.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Agriculture, Food Tech &amp; Rural Development</a:t>
            </a:r>
            <a:r>
              <a:rPr lang="en-US" sz="2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 </a:t>
            </a:r>
            <a:r>
              <a:rPr lang="en-US" sz="2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Parallax</a:t>
            </a:r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60806"/>
            <a:ext cx="1552436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Parallax</a:t>
            </a:r>
            <a:endParaRPr lang="en-IN" sz="20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11360C-1DF8-2803-0916-A3830882F42A}"/>
              </a:ext>
            </a:extLst>
          </p:cNvPr>
          <p:cNvSpPr txBox="1"/>
          <p:nvPr/>
        </p:nvSpPr>
        <p:spPr>
          <a:xfrm>
            <a:off x="4892474" y="33927"/>
            <a:ext cx="2313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rgbClr val="0060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KrishiSetu</a:t>
            </a:r>
            <a:endParaRPr lang="en-IN" sz="3600" b="1" dirty="0">
              <a:solidFill>
                <a:srgbClr val="0060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744057C-738F-A786-1AA9-BB0C6675A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9609" y1="22876" x2="45996" y2="32941"/>
                        <a14:foregroundMark x1="45996" y1="32941" x2="47754" y2="24314"/>
                        <a14:foregroundMark x1="24805" y1="48497" x2="33691" y2="56340"/>
                        <a14:foregroundMark x1="33691" y1="56340" x2="28223" y2="52941"/>
                        <a14:foregroundMark x1="27930" y1="62222" x2="32617" y2="64706"/>
                        <a14:foregroundMark x1="38477" y1="73856" x2="68359" y2="52157"/>
                        <a14:foregroundMark x1="68359" y1="52157" x2="71777" y2="55425"/>
                        <a14:foregroundMark x1="63086" y1="70327" x2="54199" y2="81699"/>
                        <a14:foregroundMark x1="54199" y1="81699" x2="67480" y2="65752"/>
                        <a14:foregroundMark x1="67480" y1="65752" x2="69922" y2="67190"/>
                        <a14:foregroundMark x1="78906" y1="60523" x2="78906" y2="60523"/>
                        <a14:foregroundMark x1="78906" y1="60523" x2="78906" y2="6052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95950" y="38322"/>
            <a:ext cx="1093746" cy="81710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430E8F4-1285-CA1E-B1BD-2B06751DF0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199" b="89949" l="8604" r="89675">
                        <a14:foregroundMark x1="7457" y1="40204" x2="10707" y2="52641"/>
                        <a14:foregroundMark x1="10707" y1="52641" x2="8795" y2="54344"/>
                        <a14:foregroundMark x1="50478" y1="22147" x2="54685" y2="31005"/>
                        <a14:foregroundMark x1="54685" y1="31005" x2="51625" y2="22487"/>
                        <a14:foregroundMark x1="76864" y1="9199" x2="76864" y2="9199"/>
                        <a14:foregroundMark x1="36138" y1="32368" x2="36138" y2="32368"/>
                        <a14:foregroundMark x1="82027" y1="30835" x2="82027" y2="30835"/>
                        <a14:foregroundMark x1="65966" y1="30324" x2="64818" y2="33220"/>
                        <a14:backgroundMark x1="30593" y1="7496" x2="30593" y2="7496"/>
                        <a14:backgroundMark x1="30593" y1="7496" x2="4398" y2="294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365020">
            <a:off x="7742233" y="296918"/>
            <a:ext cx="790979" cy="887772"/>
          </a:xfrm>
          <a:prstGeom prst="rect">
            <a:avLst/>
          </a:prstGeom>
          <a:noFill/>
        </p:spPr>
      </p:pic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005AE127-32E5-263A-BCD4-A29EEA415D34}"/>
              </a:ext>
            </a:extLst>
          </p:cNvPr>
          <p:cNvSpPr/>
          <p:nvPr/>
        </p:nvSpPr>
        <p:spPr>
          <a:xfrm>
            <a:off x="4000647" y="763932"/>
            <a:ext cx="3964330" cy="369332"/>
          </a:xfrm>
          <a:prstGeom prst="flowChartTerminator">
            <a:avLst/>
          </a:prstGeom>
          <a:gradFill>
            <a:gsLst>
              <a:gs pos="0">
                <a:srgbClr val="00642D"/>
              </a:gs>
              <a:gs pos="44000">
                <a:srgbClr val="00B050"/>
              </a:gs>
              <a:gs pos="100000">
                <a:srgbClr val="008A3E"/>
              </a:gs>
            </a:gsLst>
            <a:path path="circle">
              <a:fillToRect l="50000" t="-80000" r="50000" b="18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 the chain. Connect the Farm.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BC0E59-0582-46F2-2AD7-9FCB2EEF6D91}"/>
              </a:ext>
            </a:extLst>
          </p:cNvPr>
          <p:cNvSpPr/>
          <p:nvPr/>
        </p:nvSpPr>
        <p:spPr>
          <a:xfrm>
            <a:off x="162063" y="1174789"/>
            <a:ext cx="2973729" cy="3730843"/>
          </a:xfrm>
          <a:prstGeom prst="roundRect">
            <a:avLst/>
          </a:prstGeom>
          <a:gradFill>
            <a:gsLst>
              <a:gs pos="88000">
                <a:srgbClr val="FFB9B9"/>
              </a:gs>
              <a:gs pos="83000">
                <a:srgbClr val="FFE1E1"/>
              </a:gs>
            </a:gsLst>
          </a:gradFill>
          <a:ln w="19050"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A548AF-C564-93AA-C2AF-A883A1B64A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804" b="98131" l="1277" r="98723">
                        <a14:foregroundMark x1="52766" y1="3738" x2="43830" y2="12150"/>
                        <a14:foregroundMark x1="54894" y1="33645" x2="48085" y2="61682"/>
                        <a14:foregroundMark x1="48085" y1="61682" x2="47660" y2="75234"/>
                        <a14:foregroundMark x1="47660" y1="75701" x2="47660" y2="75701"/>
                        <a14:foregroundMark x1="51064" y1="79439" x2="46383" y2="88318"/>
                        <a14:foregroundMark x1="68085" y1="29439" x2="89362" y2="79907"/>
                        <a14:foregroundMark x1="89362" y1="79907" x2="94468" y2="79439"/>
                        <a14:foregroundMark x1="49362" y1="26636" x2="45957" y2="54673"/>
                        <a14:foregroundMark x1="45957" y1="54673" x2="44681" y2="57009"/>
                        <a14:foregroundMark x1="5532" y1="84112" x2="42979" y2="99065"/>
                        <a14:foregroundMark x1="42979" y1="99065" x2="70638" y2="97664"/>
                        <a14:foregroundMark x1="1277" y1="79907" x2="5106" y2="96262"/>
                        <a14:foregroundMark x1="97447" y1="86916" x2="98723" y2="869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126" y="1104042"/>
            <a:ext cx="472452" cy="430232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CD85AA-E07B-A26F-9572-DF2E0EEB1020}"/>
              </a:ext>
            </a:extLst>
          </p:cNvPr>
          <p:cNvSpPr txBox="1"/>
          <p:nvPr/>
        </p:nvSpPr>
        <p:spPr>
          <a:xfrm>
            <a:off x="842343" y="1630153"/>
            <a:ext cx="181652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Farmer receive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33-37%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consumer price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1EF2E-40DB-71CA-BE79-8B7DE5EB25C0}"/>
              </a:ext>
            </a:extLst>
          </p:cNvPr>
          <p:cNvSpPr txBox="1"/>
          <p:nvPr/>
        </p:nvSpPr>
        <p:spPr>
          <a:xfrm>
            <a:off x="763370" y="1174789"/>
            <a:ext cx="1737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61FE1A4-DB00-23B7-42E9-1982594B57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50" b="94333" l="1667" r="95250">
                        <a14:foregroundMark x1="28583" y1="20167" x2="12833" y2="34083"/>
                        <a14:foregroundMark x1="45250" y1="12750" x2="8417" y2="35917"/>
                        <a14:foregroundMark x1="8417" y1="35917" x2="11000" y2="22083"/>
                        <a14:foregroundMark x1="54500" y1="12750" x2="92167" y2="31917"/>
                        <a14:foregroundMark x1="92167" y1="31917" x2="95250" y2="31333"/>
                        <a14:foregroundMark x1="53583" y1="8167" x2="35083" y2="12750"/>
                        <a14:foregroundMark x1="73083" y1="5333" x2="40583" y2="12750"/>
                        <a14:foregroundMark x1="76750" y1="19250" x2="54500" y2="750"/>
                        <a14:foregroundMark x1="5417" y1="27583" x2="5417" y2="27583"/>
                        <a14:foregroundMark x1="68417" y1="44250" x2="68417" y2="44250"/>
                        <a14:foregroundMark x1="60083" y1="44250" x2="60083" y2="44250"/>
                        <a14:foregroundMark x1="61917" y1="46167" x2="63750" y2="50750"/>
                        <a14:foregroundMark x1="65667" y1="40583" x2="64750" y2="40583"/>
                        <a14:foregroundMark x1="49917" y1="39667" x2="33250" y2="50750"/>
                        <a14:foregroundMark x1="41583" y1="35917" x2="39667" y2="87833"/>
                        <a14:foregroundMark x1="69333" y1="35917" x2="56333" y2="80417"/>
                        <a14:foregroundMark x1="82333" y1="21167" x2="55417" y2="57250"/>
                        <a14:foregroundMark x1="63750" y1="35917" x2="59167" y2="72083"/>
                        <a14:foregroundMark x1="62833" y1="37833" x2="57333" y2="52667"/>
                        <a14:foregroundMark x1="58250" y1="50750" x2="60083" y2="47083"/>
                        <a14:foregroundMark x1="70250" y1="49833" x2="65667" y2="49833"/>
                        <a14:foregroundMark x1="62833" y1="46167" x2="27667" y2="40583"/>
                        <a14:foregroundMark x1="35083" y1="36917" x2="73083" y2="48000"/>
                        <a14:foregroundMark x1="31333" y1="39667" x2="47083" y2="33167"/>
                        <a14:foregroundMark x1="5124" y1="71272" x2="2667" y2="73917"/>
                        <a14:foregroundMark x1="14667" y1="61000" x2="7777" y2="68417"/>
                        <a14:foregroundMark x1="7973" y1="80417" x2="11917" y2="94333"/>
                        <a14:foregroundMark x1="1667" y1="58167" x2="5124" y2="70365"/>
                        <a14:foregroundMark x1="30417" y1="46167" x2="44333" y2="47083"/>
                        <a14:backgroundMark x1="7250" y1="79500" x2="7250" y2="79500"/>
                        <a14:backgroundMark x1="7250" y1="68417" x2="7250" y2="804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1548" y="1802410"/>
            <a:ext cx="559313" cy="5593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8CB9D8-863E-6788-6216-D38775FDA5D2}"/>
              </a:ext>
            </a:extLst>
          </p:cNvPr>
          <p:cNvSpPr txBox="1"/>
          <p:nvPr/>
        </p:nvSpPr>
        <p:spPr>
          <a:xfrm>
            <a:off x="903812" y="2508735"/>
            <a:ext cx="189827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Consumer pay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– 3x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farm gate price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14FD7A1-254C-0F34-7DD9-E4879BB143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48202" y1="17857" x2="48585" y2="35816"/>
                        <a14:foregroundMark x1="48585" y1="35816" x2="52334" y2="26633"/>
                        <a14:foregroundMark x1="52334" y1="26633" x2="55241" y2="42143"/>
                        <a14:foregroundMark x1="55241" y1="42143" x2="53864" y2="42143"/>
                        <a14:foregroundMark x1="30069" y1="28878" x2="29151" y2="41122"/>
                        <a14:foregroundMark x1="29151" y1="41122" x2="22035" y2="40408"/>
                        <a14:foregroundMark x1="22035" y1="40408" x2="22724" y2="31327"/>
                        <a14:foregroundMark x1="22724" y1="31327" x2="28768" y2="37551"/>
                        <a14:foregroundMark x1="28768" y1="37551" x2="30604" y2="41837"/>
                        <a14:foregroundMark x1="23642" y1="56531" x2="16526" y2="58673"/>
                        <a14:foregroundMark x1="16526" y1="58673" x2="22418" y2="63878"/>
                        <a14:foregroundMark x1="22418" y1="63878" x2="26320" y2="58061"/>
                        <a14:foregroundMark x1="26320" y1="58061" x2="26549" y2="57143"/>
                        <a14:foregroundMark x1="23489" y1="53367" x2="23489" y2="53367"/>
                        <a14:foregroundMark x1="23106" y1="52959" x2="23106" y2="52959"/>
                        <a14:foregroundMark x1="31829" y1="56224" x2="31829" y2="56224"/>
                        <a14:foregroundMark x1="75210" y1="32245" x2="75210" y2="32245"/>
                        <a14:foregroundMark x1="79419" y1="62143" x2="79419" y2="621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513" y="2510427"/>
            <a:ext cx="749700" cy="78436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116E688-5920-2CA9-7915-02CA71802A3B}"/>
              </a:ext>
            </a:extLst>
          </p:cNvPr>
          <p:cNvSpPr txBox="1"/>
          <p:nvPr/>
        </p:nvSpPr>
        <p:spPr>
          <a:xfrm>
            <a:off x="842343" y="3324184"/>
            <a:ext cx="22641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perishable product wasted before reaching market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F7CC2E1-D5D7-B363-753F-00A67B92853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375" b="89063" l="1010" r="95960">
                        <a14:foregroundMark x1="2020" y1="59375" x2="2020" y2="59375"/>
                        <a14:foregroundMark x1="10101" y1="76563" x2="10101" y2="76563"/>
                        <a14:foregroundMark x1="78788" y1="87500" x2="78788" y2="87500"/>
                        <a14:foregroundMark x1="95960" y1="62500" x2="95960" y2="6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057" y="3433448"/>
            <a:ext cx="683100" cy="527915"/>
          </a:xfrm>
          <a:prstGeom prst="rect">
            <a:avLst/>
          </a:prstGeom>
          <a:noFill/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E0FFDA-85A9-B7EF-8CA6-95ECE9752CD7}"/>
              </a:ext>
            </a:extLst>
          </p:cNvPr>
          <p:cNvCxnSpPr>
            <a:cxnSpLocks/>
          </p:cNvCxnSpPr>
          <p:nvPr/>
        </p:nvCxnSpPr>
        <p:spPr>
          <a:xfrm flipV="1">
            <a:off x="204057" y="2531516"/>
            <a:ext cx="2972956" cy="15499"/>
          </a:xfrm>
          <a:prstGeom prst="line">
            <a:avLst/>
          </a:prstGeom>
          <a:ln w="28575" cap="flat" cmpd="sng" algn="ctr">
            <a:solidFill>
              <a:srgbClr val="FFD1D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6B3885-1771-9DDD-E7C7-6AEB52B1B2A2}"/>
              </a:ext>
            </a:extLst>
          </p:cNvPr>
          <p:cNvCxnSpPr>
            <a:cxnSpLocks/>
          </p:cNvCxnSpPr>
          <p:nvPr/>
        </p:nvCxnSpPr>
        <p:spPr>
          <a:xfrm>
            <a:off x="204057" y="3363006"/>
            <a:ext cx="2902412" cy="10838"/>
          </a:xfrm>
          <a:prstGeom prst="line">
            <a:avLst/>
          </a:prstGeom>
          <a:ln w="28575" cap="flat" cmpd="sng" algn="ctr">
            <a:solidFill>
              <a:srgbClr val="FFD1D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69FFB14-8534-55F6-3F26-44DC74DFF776}"/>
              </a:ext>
            </a:extLst>
          </p:cNvPr>
          <p:cNvSpPr/>
          <p:nvPr/>
        </p:nvSpPr>
        <p:spPr>
          <a:xfrm>
            <a:off x="130823" y="5064592"/>
            <a:ext cx="4688699" cy="1452160"/>
          </a:xfrm>
          <a:prstGeom prst="roundRect">
            <a:avLst/>
          </a:prstGeom>
          <a:gradFill>
            <a:gsLst>
              <a:gs pos="87000">
                <a:srgbClr val="65D7FF"/>
              </a:gs>
              <a:gs pos="72000">
                <a:srgbClr val="C5F5FF"/>
              </a:gs>
            </a:gsLst>
          </a:gradFill>
          <a:ln w="19050">
            <a:solidFill>
              <a:srgbClr val="0070C0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5D85565-6AE6-B782-D470-2A0EE475AA37}"/>
              </a:ext>
            </a:extLst>
          </p:cNvPr>
          <p:cNvCxnSpPr>
            <a:cxnSpLocks/>
          </p:cNvCxnSpPr>
          <p:nvPr/>
        </p:nvCxnSpPr>
        <p:spPr>
          <a:xfrm>
            <a:off x="191389" y="4194932"/>
            <a:ext cx="2915080" cy="0"/>
          </a:xfrm>
          <a:prstGeom prst="line">
            <a:avLst/>
          </a:prstGeom>
          <a:ln w="28575" cap="flat" cmpd="sng" algn="ctr">
            <a:solidFill>
              <a:srgbClr val="FFD1D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6" name="Graphic 35" descr="Link">
            <a:extLst>
              <a:ext uri="{FF2B5EF4-FFF2-40B4-BE49-F238E27FC236}">
                <a16:creationId xmlns:a16="http://schemas.microsoft.com/office/drawing/2014/main" id="{CF019BD6-501B-CCCF-1C0F-C38A7D6520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168784" y="4194932"/>
            <a:ext cx="679157" cy="573295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77269AB-0F08-9DA4-B4F3-304ED87E7ADB}"/>
              </a:ext>
            </a:extLst>
          </p:cNvPr>
          <p:cNvSpPr txBox="1"/>
          <p:nvPr/>
        </p:nvSpPr>
        <p:spPr>
          <a:xfrm>
            <a:off x="886451" y="4194932"/>
            <a:ext cx="256460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Multiple intermediaries: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Higher cost, less transparency, more waste.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82F60F-BDC7-8CBF-0DBF-6C3D086D6561}"/>
              </a:ext>
            </a:extLst>
          </p:cNvPr>
          <p:cNvSpPr txBox="1"/>
          <p:nvPr/>
        </p:nvSpPr>
        <p:spPr>
          <a:xfrm>
            <a:off x="580072" y="5051532"/>
            <a:ext cx="3972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Chain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(The Problem)</a:t>
            </a:r>
            <a:endParaRPr lang="en-IN" sz="20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Graphic 45" descr="Link">
            <a:extLst>
              <a:ext uri="{FF2B5EF4-FFF2-40B4-BE49-F238E27FC236}">
                <a16:creationId xmlns:a16="http://schemas.microsoft.com/office/drawing/2014/main" id="{5771A796-7905-727C-86DD-831F83AB88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216320" y="5091923"/>
            <a:ext cx="452064" cy="381600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E983D5D-66E8-5B3B-0522-1521DC116E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50" b="94333" l="1667" r="95250">
                        <a14:foregroundMark x1="28583" y1="20167" x2="12833" y2="34083"/>
                        <a14:foregroundMark x1="45250" y1="12750" x2="8417" y2="35917"/>
                        <a14:foregroundMark x1="8417" y1="35917" x2="11000" y2="22083"/>
                        <a14:foregroundMark x1="54500" y1="12750" x2="92167" y2="31917"/>
                        <a14:foregroundMark x1="92167" y1="31917" x2="95250" y2="31333"/>
                        <a14:foregroundMark x1="53583" y1="8167" x2="35083" y2="12750"/>
                        <a14:foregroundMark x1="73083" y1="5333" x2="40583" y2="12750"/>
                        <a14:foregroundMark x1="76750" y1="19250" x2="54500" y2="750"/>
                        <a14:foregroundMark x1="5417" y1="27583" x2="5417" y2="27583"/>
                        <a14:foregroundMark x1="68417" y1="44250" x2="68417" y2="44250"/>
                        <a14:foregroundMark x1="60083" y1="44250" x2="60083" y2="44250"/>
                        <a14:foregroundMark x1="61917" y1="46167" x2="63750" y2="50750"/>
                        <a14:foregroundMark x1="65667" y1="40583" x2="64750" y2="40583"/>
                        <a14:foregroundMark x1="49917" y1="39667" x2="33250" y2="50750"/>
                        <a14:foregroundMark x1="41583" y1="35917" x2="39667" y2="87833"/>
                        <a14:foregroundMark x1="69333" y1="35917" x2="56333" y2="80417"/>
                        <a14:foregroundMark x1="82333" y1="21167" x2="55417" y2="57250"/>
                        <a14:foregroundMark x1="63750" y1="35917" x2="59167" y2="72083"/>
                        <a14:foregroundMark x1="62833" y1="37833" x2="57333" y2="52667"/>
                        <a14:foregroundMark x1="58250" y1="50750" x2="60083" y2="47083"/>
                        <a14:foregroundMark x1="70250" y1="49833" x2="65667" y2="49833"/>
                        <a14:foregroundMark x1="62833" y1="46167" x2="27667" y2="40583"/>
                        <a14:foregroundMark x1="35083" y1="36917" x2="73083" y2="48000"/>
                        <a14:foregroundMark x1="31333" y1="39667" x2="47083" y2="33167"/>
                        <a14:foregroundMark x1="5124" y1="71272" x2="2667" y2="73917"/>
                        <a14:foregroundMark x1="14667" y1="61000" x2="7777" y2="68417"/>
                        <a14:foregroundMark x1="7973" y1="80417" x2="11917" y2="94333"/>
                        <a14:foregroundMark x1="1667" y1="58167" x2="5124" y2="70365"/>
                        <a14:foregroundMark x1="30417" y1="46167" x2="44333" y2="47083"/>
                        <a14:backgroundMark x1="7250" y1="79500" x2="7250" y2="79500"/>
                        <a14:backgroundMark x1="7250" y1="68417" x2="7250" y2="804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0515" y="5499686"/>
            <a:ext cx="507518" cy="50751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DF300B1-CE5D-3CC6-36C8-9A0ADE233EC9}"/>
              </a:ext>
            </a:extLst>
          </p:cNvPr>
          <p:cNvSpPr txBox="1"/>
          <p:nvPr/>
        </p:nvSpPr>
        <p:spPr>
          <a:xfrm>
            <a:off x="168784" y="6033736"/>
            <a:ext cx="848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Farmer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3DEAD1A-BF0D-C29E-1F10-E00BA940897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8008" b="93359" l="9961" r="89844">
                        <a14:foregroundMark x1="41797" y1="54102" x2="50391" y2="59375"/>
                        <a14:foregroundMark x1="50391" y1="59375" x2="50000" y2="60938"/>
                        <a14:foregroundMark x1="49414" y1="27344" x2="43359" y2="35156"/>
                        <a14:foregroundMark x1="43359" y1="35156" x2="46680" y2="39063"/>
                        <a14:foregroundMark x1="46680" y1="23438" x2="43164" y2="34180"/>
                        <a14:foregroundMark x1="43164" y1="34180" x2="55664" y2="34375"/>
                        <a14:foregroundMark x1="55664" y1="34375" x2="45898" y2="31055"/>
                        <a14:foregroundMark x1="45898" y1="31055" x2="57422" y2="33203"/>
                        <a14:foregroundMark x1="57422" y1="33203" x2="48438" y2="25000"/>
                        <a14:foregroundMark x1="48438" y1="25000" x2="37305" y2="32617"/>
                        <a14:foregroundMark x1="37305" y1="32617" x2="64648" y2="38867"/>
                        <a14:foregroundMark x1="64648" y1="38867" x2="51172" y2="27148"/>
                        <a14:foregroundMark x1="51172" y1="27148" x2="49414" y2="27148"/>
                        <a14:foregroundMark x1="59570" y1="25977" x2="59766" y2="37500"/>
                        <a14:foregroundMark x1="43164" y1="8008" x2="43164" y2="8008"/>
                        <a14:foregroundMark x1="51953" y1="49023" x2="47852" y2="73633"/>
                        <a14:foregroundMark x1="43555" y1="57227" x2="41016" y2="82031"/>
                        <a14:foregroundMark x1="41016" y1="82031" x2="41016" y2="82031"/>
                        <a14:foregroundMark x1="59961" y1="57813" x2="56055" y2="78516"/>
                        <a14:foregroundMark x1="56055" y1="78516" x2="52539" y2="80078"/>
                        <a14:foregroundMark x1="55273" y1="51367" x2="55078" y2="75781"/>
                        <a14:foregroundMark x1="55078" y1="75781" x2="53711" y2="77148"/>
                        <a14:foregroundMark x1="47852" y1="56250" x2="41602" y2="9335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1227" y="5506277"/>
            <a:ext cx="510672" cy="510672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BC7D868-5B71-56F9-E1F4-52A59390D04C}"/>
              </a:ext>
            </a:extLst>
          </p:cNvPr>
          <p:cNvSpPr txBox="1"/>
          <p:nvPr/>
        </p:nvSpPr>
        <p:spPr>
          <a:xfrm>
            <a:off x="918687" y="6005718"/>
            <a:ext cx="1011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Trader</a:t>
            </a:r>
          </a:p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Arhtiya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1CCCC51-D5E6-BBB5-7869-3A95546DED60}"/>
              </a:ext>
            </a:extLst>
          </p:cNvPr>
          <p:cNvSpPr/>
          <p:nvPr/>
        </p:nvSpPr>
        <p:spPr>
          <a:xfrm>
            <a:off x="5045396" y="5064592"/>
            <a:ext cx="3300858" cy="1443882"/>
          </a:xfrm>
          <a:prstGeom prst="roundRect">
            <a:avLst/>
          </a:prstGeom>
          <a:gradFill>
            <a:gsLst>
              <a:gs pos="82000">
                <a:srgbClr val="E4FEBE"/>
              </a:gs>
              <a:gs pos="70000">
                <a:schemeClr val="accent3">
                  <a:tint val="15000"/>
                  <a:satMod val="350000"/>
                </a:schemeClr>
              </a:gs>
            </a:gsLst>
          </a:gra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DAB8C45-FCF5-F554-0A96-19AACBD47114}"/>
              </a:ext>
            </a:extLst>
          </p:cNvPr>
          <p:cNvSpPr/>
          <p:nvPr/>
        </p:nvSpPr>
        <p:spPr>
          <a:xfrm>
            <a:off x="8547731" y="5051532"/>
            <a:ext cx="3515513" cy="1465220"/>
          </a:xfrm>
          <a:prstGeom prst="roundRect">
            <a:avLst/>
          </a:prstGeom>
          <a:gradFill>
            <a:gsLst>
              <a:gs pos="67000">
                <a:srgbClr val="FFF8E1"/>
              </a:gs>
              <a:gs pos="80000">
                <a:srgbClr val="FFE181"/>
              </a:gs>
            </a:gsLst>
          </a:gra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550FE4-D411-6A13-DCBC-EBF5E6D86E60}"/>
              </a:ext>
            </a:extLst>
          </p:cNvPr>
          <p:cNvSpPr txBox="1"/>
          <p:nvPr/>
        </p:nvSpPr>
        <p:spPr>
          <a:xfrm>
            <a:off x="8775228" y="5433196"/>
            <a:ext cx="3079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Higher earnings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farmers.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9B6C1F-BD3F-176C-7E2D-53A1C6F691F4}"/>
              </a:ext>
            </a:extLst>
          </p:cNvPr>
          <p:cNvSpPr txBox="1"/>
          <p:nvPr/>
        </p:nvSpPr>
        <p:spPr>
          <a:xfrm>
            <a:off x="8784580" y="5688692"/>
            <a:ext cx="3079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Fair prices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consumers.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2065EC-2F38-DAB2-3A11-171C3792DE2E}"/>
              </a:ext>
            </a:extLst>
          </p:cNvPr>
          <p:cNvSpPr txBox="1"/>
          <p:nvPr/>
        </p:nvSpPr>
        <p:spPr>
          <a:xfrm>
            <a:off x="8775228" y="5965391"/>
            <a:ext cx="3540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Reduced waste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&amp; efficient supply chain.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81F8A0-036A-56FB-8CDA-DD9E87EE1E3A}"/>
              </a:ext>
            </a:extLst>
          </p:cNvPr>
          <p:cNvSpPr txBox="1"/>
          <p:nvPr/>
        </p:nvSpPr>
        <p:spPr>
          <a:xfrm>
            <a:off x="8784580" y="6236516"/>
            <a:ext cx="3217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Stronger rural economy &amp; livelihoods.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2FE8A370-BF98-4084-0279-59DF056181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50" b="94333" l="1667" r="95250">
                        <a14:foregroundMark x1="28583" y1="20167" x2="12833" y2="34083"/>
                        <a14:foregroundMark x1="45250" y1="12750" x2="8417" y2="35917"/>
                        <a14:foregroundMark x1="8417" y1="35917" x2="11000" y2="22083"/>
                        <a14:foregroundMark x1="54500" y1="12750" x2="92167" y2="31917"/>
                        <a14:foregroundMark x1="92167" y1="31917" x2="95250" y2="31333"/>
                        <a14:foregroundMark x1="53583" y1="8167" x2="35083" y2="12750"/>
                        <a14:foregroundMark x1="73083" y1="5333" x2="40583" y2="12750"/>
                        <a14:foregroundMark x1="76750" y1="19250" x2="54500" y2="750"/>
                        <a14:foregroundMark x1="5417" y1="27583" x2="5417" y2="27583"/>
                        <a14:foregroundMark x1="68417" y1="44250" x2="68417" y2="44250"/>
                        <a14:foregroundMark x1="60083" y1="44250" x2="60083" y2="44250"/>
                        <a14:foregroundMark x1="61917" y1="46167" x2="63750" y2="50750"/>
                        <a14:foregroundMark x1="65667" y1="40583" x2="64750" y2="40583"/>
                        <a14:foregroundMark x1="49917" y1="39667" x2="33250" y2="50750"/>
                        <a14:foregroundMark x1="41583" y1="35917" x2="39667" y2="87833"/>
                        <a14:foregroundMark x1="69333" y1="35917" x2="56333" y2="80417"/>
                        <a14:foregroundMark x1="82333" y1="21167" x2="55417" y2="57250"/>
                        <a14:foregroundMark x1="63750" y1="35917" x2="59167" y2="72083"/>
                        <a14:foregroundMark x1="62833" y1="37833" x2="57333" y2="52667"/>
                        <a14:foregroundMark x1="58250" y1="50750" x2="60083" y2="47083"/>
                        <a14:foregroundMark x1="70250" y1="49833" x2="65667" y2="49833"/>
                        <a14:foregroundMark x1="62833" y1="46167" x2="27667" y2="40583"/>
                        <a14:foregroundMark x1="35083" y1="36917" x2="73083" y2="48000"/>
                        <a14:foregroundMark x1="31333" y1="39667" x2="47083" y2="33167"/>
                        <a14:foregroundMark x1="5124" y1="71272" x2="2667" y2="73917"/>
                        <a14:foregroundMark x1="14667" y1="61000" x2="7777" y2="68417"/>
                        <a14:foregroundMark x1="7973" y1="80417" x2="11917" y2="94333"/>
                        <a14:foregroundMark x1="1667" y1="58167" x2="5124" y2="70365"/>
                        <a14:foregroundMark x1="30417" y1="46167" x2="44333" y2="47083"/>
                        <a14:backgroundMark x1="7250" y1="79500" x2="7250" y2="79500"/>
                        <a14:backgroundMark x1="7250" y1="68417" x2="7250" y2="804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15244" y="5534551"/>
            <a:ext cx="515996" cy="515996"/>
          </a:xfrm>
          <a:prstGeom prst="rect">
            <a:avLst/>
          </a:prstGeom>
        </p:spPr>
      </p:pic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257D24C-4781-9AD8-17F0-68EF98ED337E}"/>
              </a:ext>
            </a:extLst>
          </p:cNvPr>
          <p:cNvSpPr/>
          <p:nvPr/>
        </p:nvSpPr>
        <p:spPr>
          <a:xfrm>
            <a:off x="6240319" y="5488005"/>
            <a:ext cx="721601" cy="612559"/>
          </a:xfrm>
          <a:prstGeom prst="roundRect">
            <a:avLst/>
          </a:prstGeom>
          <a:solidFill>
            <a:srgbClr val="EFFEDA"/>
          </a:solidFill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401F9C92-2A6D-7082-E850-A2F5E56C4AD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752" b="95425" l="9961" r="89844">
                        <a14:foregroundMark x1="49609" y1="22876" x2="45996" y2="32941"/>
                        <a14:foregroundMark x1="45996" y1="32941" x2="47754" y2="24314"/>
                        <a14:foregroundMark x1="24805" y1="48497" x2="33691" y2="56340"/>
                        <a14:foregroundMark x1="33691" y1="56340" x2="28223" y2="52941"/>
                        <a14:foregroundMark x1="27930" y1="62222" x2="32617" y2="64706"/>
                        <a14:foregroundMark x1="38477" y1="73856" x2="68359" y2="52157"/>
                        <a14:foregroundMark x1="68359" y1="52157" x2="71777" y2="55425"/>
                        <a14:foregroundMark x1="63086" y1="70327" x2="54199" y2="81699"/>
                        <a14:foregroundMark x1="54199" y1="81699" x2="67480" y2="65752"/>
                        <a14:foregroundMark x1="67480" y1="65752" x2="69922" y2="67190"/>
                        <a14:foregroundMark x1="78906" y1="60523" x2="78906" y2="60523"/>
                        <a14:foregroundMark x1="78906" y1="60523" x2="78906" y2="60523"/>
                        <a14:foregroundMark x1="25098" y1="42614" x2="25098" y2="42614"/>
                        <a14:foregroundMark x1="33691" y1="42614" x2="71191" y2="60131"/>
                        <a14:foregroundMark x1="64746" y1="39346" x2="33887" y2="93203"/>
                        <a14:foregroundMark x1="33887" y1="93203" x2="46582" y2="95425"/>
                        <a14:foregroundMark x1="51855" y1="49020" x2="45508" y2="24967"/>
                        <a14:foregroundMark x1="63672" y1="37778" x2="56152" y2="5752"/>
                        <a14:foregroundMark x1="61523" y1="37778" x2="49707" y2="24967"/>
                        <a14:foregroundMark x1="73242" y1="28105" x2="35840" y2="55425"/>
                        <a14:foregroundMark x1="58301" y1="26536" x2="49707" y2="21699"/>
                        <a14:foregroundMark x1="74316" y1="47320" x2="72168" y2="47320"/>
                        <a14:foregroundMark x1="48633" y1="53725" x2="73242" y2="55425"/>
                        <a14:foregroundMark x1="46582" y1="29673" x2="82910" y2="45752"/>
                        <a14:foregroundMark x1="50781" y1="21699" x2="62598" y2="45752"/>
                        <a14:foregroundMark x1="58301" y1="23268" x2="73242" y2="34510"/>
                        <a14:foregroundMark x1="63672" y1="20131" x2="30469" y2="32941"/>
                        <a14:foregroundMark x1="61523" y1="28105" x2="30469" y2="60131"/>
                        <a14:foregroundMark x1="42285" y1="20131" x2="23047" y2="40915"/>
                        <a14:foregroundMark x1="65820" y1="16863" x2="35840" y2="31373"/>
                        <a14:foregroundMark x1="59375" y1="28105" x2="17676" y2="39346"/>
                        <a14:foregroundMark x1="35840" y1="13725" x2="24121" y2="24967"/>
                        <a14:foregroundMark x1="30469" y1="34510" x2="56152" y2="20131"/>
                        <a14:foregroundMark x1="56152" y1="20131" x2="36914" y2="8889"/>
                        <a14:foregroundMark x1="46582" y1="21699" x2="46582" y2="21699"/>
                        <a14:foregroundMark x1="34766" y1="10458" x2="29395" y2="13725"/>
                        <a14:foregroundMark x1="43359" y1="13725" x2="10156" y2="26536"/>
                        <a14:foregroundMark x1="40137" y1="53725" x2="51855" y2="84183"/>
                        <a14:foregroundMark x1="61523" y1="60131" x2="73242" y2="52157"/>
                        <a14:foregroundMark x1="79688" y1="50588" x2="54004" y2="77778"/>
                        <a14:foregroundMark x1="29395" y1="40915" x2="34766" y2="47320"/>
                        <a14:foregroundMark x1="39063" y1="56993" x2="44434" y2="56993"/>
                        <a14:foregroundMark x1="77539" y1="58562" x2="25391" y2="66013"/>
                        <a14:foregroundMark x1="25391" y1="66013" x2="51855" y2="63399"/>
                        <a14:foregroundMark x1="39063" y1="56993" x2="65820" y2="63399"/>
                        <a14:foregroundMark x1="60449" y1="55425" x2="85059" y2="58562"/>
                        <a14:foregroundMark x1="63672" y1="58562" x2="43359" y2="74641"/>
                        <a14:foregroundMark x1="57227" y1="56993" x2="47656" y2="77778"/>
                        <a14:foregroundMark x1="58301" y1="66536" x2="71191" y2="665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5999" y="5458728"/>
            <a:ext cx="1022774" cy="682663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96B4940-0F08-8F2C-F4D5-CC4471CBE1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48202" y1="17857" x2="48585" y2="35816"/>
                        <a14:foregroundMark x1="48585" y1="35816" x2="52334" y2="26633"/>
                        <a14:foregroundMark x1="52334" y1="26633" x2="55241" y2="42143"/>
                        <a14:foregroundMark x1="55241" y1="42143" x2="53864" y2="42143"/>
                        <a14:foregroundMark x1="30069" y1="28878" x2="29151" y2="41122"/>
                        <a14:foregroundMark x1="29151" y1="41122" x2="22035" y2="40408"/>
                        <a14:foregroundMark x1="22035" y1="40408" x2="22724" y2="31327"/>
                        <a14:foregroundMark x1="22724" y1="31327" x2="28768" y2="37551"/>
                        <a14:foregroundMark x1="28768" y1="37551" x2="30604" y2="41837"/>
                        <a14:foregroundMark x1="23642" y1="56531" x2="16526" y2="58673"/>
                        <a14:foregroundMark x1="16526" y1="58673" x2="22418" y2="63878"/>
                        <a14:foregroundMark x1="22418" y1="63878" x2="26320" y2="58061"/>
                        <a14:foregroundMark x1="26320" y1="58061" x2="26549" y2="57143"/>
                        <a14:foregroundMark x1="23489" y1="53367" x2="23489" y2="53367"/>
                        <a14:foregroundMark x1="23106" y1="52959" x2="23106" y2="52959"/>
                        <a14:foregroundMark x1="31829" y1="56224" x2="31829" y2="56224"/>
                        <a14:foregroundMark x1="75210" y1="32245" x2="75210" y2="32245"/>
                        <a14:foregroundMark x1="79419" y1="62143" x2="79419" y2="621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42047" y="5381920"/>
            <a:ext cx="762225" cy="79746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070E7B63-ED20-65A6-492A-B70DAF2AC12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73221" y="5477858"/>
            <a:ext cx="523220" cy="52322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CC05268E-D8B8-32ED-E168-E24A4FBEEA18}"/>
              </a:ext>
            </a:extLst>
          </p:cNvPr>
          <p:cNvSpPr txBox="1"/>
          <p:nvPr/>
        </p:nvSpPr>
        <p:spPr>
          <a:xfrm>
            <a:off x="1854485" y="6084788"/>
            <a:ext cx="1148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Wholesaler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BBD1C86E-2380-C67B-D49F-EDE4AF01177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75122" y="5527264"/>
            <a:ext cx="523220" cy="52322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6486E7DA-26EC-BF6F-C743-0838D043E80D}"/>
              </a:ext>
            </a:extLst>
          </p:cNvPr>
          <p:cNvSpPr txBox="1"/>
          <p:nvPr/>
        </p:nvSpPr>
        <p:spPr>
          <a:xfrm>
            <a:off x="2877768" y="6096594"/>
            <a:ext cx="1148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Retailer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AD6870BA-F0F3-DD2A-85AB-8E2E798A03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48202" y1="17857" x2="48585" y2="35816"/>
                        <a14:foregroundMark x1="48585" y1="35816" x2="52334" y2="26633"/>
                        <a14:foregroundMark x1="52334" y1="26633" x2="55241" y2="42143"/>
                        <a14:foregroundMark x1="55241" y1="42143" x2="53864" y2="42143"/>
                        <a14:foregroundMark x1="30069" y1="28878" x2="29151" y2="41122"/>
                        <a14:foregroundMark x1="29151" y1="41122" x2="22035" y2="40408"/>
                        <a14:foregroundMark x1="22035" y1="40408" x2="22724" y2="31327"/>
                        <a14:foregroundMark x1="22724" y1="31327" x2="28768" y2="37551"/>
                        <a14:foregroundMark x1="28768" y1="37551" x2="30604" y2="41837"/>
                        <a14:foregroundMark x1="23642" y1="56531" x2="16526" y2="58673"/>
                        <a14:foregroundMark x1="16526" y1="58673" x2="22418" y2="63878"/>
                        <a14:foregroundMark x1="22418" y1="63878" x2="26320" y2="58061"/>
                        <a14:foregroundMark x1="26320" y1="58061" x2="26549" y2="57143"/>
                        <a14:foregroundMark x1="23489" y1="53367" x2="23489" y2="53367"/>
                        <a14:foregroundMark x1="23106" y1="52959" x2="23106" y2="52959"/>
                        <a14:foregroundMark x1="31829" y1="56224" x2="31829" y2="56224"/>
                        <a14:foregroundMark x1="75210" y1="32245" x2="75210" y2="32245"/>
                        <a14:foregroundMark x1="79419" y1="62143" x2="79419" y2="621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26430" y="5457162"/>
            <a:ext cx="624658" cy="653538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B66DB823-EE12-2B96-831C-90E31DE8D315}"/>
              </a:ext>
            </a:extLst>
          </p:cNvPr>
          <p:cNvSpPr txBox="1"/>
          <p:nvPr/>
        </p:nvSpPr>
        <p:spPr>
          <a:xfrm>
            <a:off x="3781108" y="6100565"/>
            <a:ext cx="1148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Consumer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7789C49-6D9A-A913-EE0A-3BF8EBF96D07}"/>
              </a:ext>
            </a:extLst>
          </p:cNvPr>
          <p:cNvCxnSpPr/>
          <p:nvPr/>
        </p:nvCxnSpPr>
        <p:spPr>
          <a:xfrm>
            <a:off x="800861" y="5836366"/>
            <a:ext cx="38129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FC30C05-415A-4986-54A4-0584AD7B6C30}"/>
              </a:ext>
            </a:extLst>
          </p:cNvPr>
          <p:cNvCxnSpPr/>
          <p:nvPr/>
        </p:nvCxnSpPr>
        <p:spPr>
          <a:xfrm>
            <a:off x="1709056" y="5851643"/>
            <a:ext cx="38129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864F940-5FB3-C724-60BB-0B603EAEE7E0}"/>
              </a:ext>
            </a:extLst>
          </p:cNvPr>
          <p:cNvCxnSpPr>
            <a:cxnSpLocks/>
          </p:cNvCxnSpPr>
          <p:nvPr/>
        </p:nvCxnSpPr>
        <p:spPr>
          <a:xfrm>
            <a:off x="2893831" y="5843405"/>
            <a:ext cx="28318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A89D058-94EC-AB19-29C4-5FF820DAC863}"/>
              </a:ext>
            </a:extLst>
          </p:cNvPr>
          <p:cNvCxnSpPr>
            <a:cxnSpLocks/>
          </p:cNvCxnSpPr>
          <p:nvPr/>
        </p:nvCxnSpPr>
        <p:spPr>
          <a:xfrm flipV="1">
            <a:off x="3843948" y="5833337"/>
            <a:ext cx="323851" cy="60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D3C87CBE-9AB6-3B6B-1735-ACF6B0E85447}"/>
              </a:ext>
            </a:extLst>
          </p:cNvPr>
          <p:cNvSpPr txBox="1"/>
          <p:nvPr/>
        </p:nvSpPr>
        <p:spPr>
          <a:xfrm>
            <a:off x="5615118" y="5003059"/>
            <a:ext cx="2563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KrishiSetu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Solution</a:t>
            </a:r>
            <a:endParaRPr lang="en-IN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0B5845BE-D492-C0BB-E4C0-30358C48875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>
                        <a14:foregroundMark x1="25468" y1="64439" x2="25468" y2="64439"/>
                        <a14:foregroundMark x1="73034" y1="62299" x2="73034" y2="622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00597" y="5031930"/>
            <a:ext cx="659169" cy="461665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49C17B98-37AD-9359-8218-40126E9210E9}"/>
              </a:ext>
            </a:extLst>
          </p:cNvPr>
          <p:cNvSpPr txBox="1"/>
          <p:nvPr/>
        </p:nvSpPr>
        <p:spPr>
          <a:xfrm>
            <a:off x="7230140" y="6065725"/>
            <a:ext cx="1148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Consumer /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Bulkbuyer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5AB28F-3F1D-55A4-F2E9-6A05DC293146}"/>
              </a:ext>
            </a:extLst>
          </p:cNvPr>
          <p:cNvSpPr txBox="1"/>
          <p:nvPr/>
        </p:nvSpPr>
        <p:spPr>
          <a:xfrm>
            <a:off x="4892474" y="6065726"/>
            <a:ext cx="105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Farmer / FPO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656985F-D553-F6E3-AE03-DAE766DD3A48}"/>
              </a:ext>
            </a:extLst>
          </p:cNvPr>
          <p:cNvSpPr txBox="1"/>
          <p:nvPr/>
        </p:nvSpPr>
        <p:spPr>
          <a:xfrm>
            <a:off x="5321015" y="6147637"/>
            <a:ext cx="2564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KrishiSetu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5BF8A1-6974-94EE-0528-1F57C3D831E7}"/>
              </a:ext>
            </a:extLst>
          </p:cNvPr>
          <p:cNvCxnSpPr/>
          <p:nvPr/>
        </p:nvCxnSpPr>
        <p:spPr>
          <a:xfrm>
            <a:off x="5714708" y="5851643"/>
            <a:ext cx="38129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468D47-AF43-0F45-D8C5-A94834B0E3D6}"/>
              </a:ext>
            </a:extLst>
          </p:cNvPr>
          <p:cNvCxnSpPr/>
          <p:nvPr/>
        </p:nvCxnSpPr>
        <p:spPr>
          <a:xfrm>
            <a:off x="7118773" y="5851643"/>
            <a:ext cx="38129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6CC5FD-04B2-B304-DC2A-1470F9AF53FC}"/>
              </a:ext>
            </a:extLst>
          </p:cNvPr>
          <p:cNvSpPr/>
          <p:nvPr/>
        </p:nvSpPr>
        <p:spPr>
          <a:xfrm>
            <a:off x="8606056" y="1223209"/>
            <a:ext cx="3457187" cy="3622378"/>
          </a:xfrm>
          <a:prstGeom prst="roundRect">
            <a:avLst/>
          </a:prstGeom>
          <a:gradFill>
            <a:gsLst>
              <a:gs pos="88000">
                <a:srgbClr val="E0FEB4"/>
              </a:gs>
              <a:gs pos="75000">
                <a:srgbClr val="F0FEDE"/>
              </a:gs>
            </a:gsLst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F059B38-C881-EA16-AA1C-73BA300206A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>
                        <a14:foregroundMark x1="56498" y1="37906" x2="46390" y2="46570"/>
                        <a14:foregroundMark x1="46390" y1="46570" x2="43141" y2="55415"/>
                        <a14:foregroundMark x1="43141" y1="55415" x2="33755" y2="51083"/>
                        <a14:foregroundMark x1="33755" y1="51083" x2="32491" y2="39170"/>
                        <a14:foregroundMark x1="32491" y1="39170" x2="40253" y2="32852"/>
                        <a14:foregroundMark x1="40253" y1="32852" x2="53610" y2="37004"/>
                        <a14:foregroundMark x1="53610" y1="37004" x2="50542" y2="51083"/>
                        <a14:foregroundMark x1="50542" y1="51083" x2="30505" y2="45487"/>
                        <a14:foregroundMark x1="30505" y1="45487" x2="34657" y2="35921"/>
                        <a14:foregroundMark x1="34657" y1="35921" x2="43863" y2="48736"/>
                        <a14:foregroundMark x1="43863" y1="48736" x2="40614" y2="38628"/>
                        <a14:foregroundMark x1="40614" y1="38628" x2="53069" y2="33213"/>
                        <a14:foregroundMark x1="53069" y1="33213" x2="63357" y2="34296"/>
                        <a14:foregroundMark x1="63357" y1="34296" x2="62455" y2="37365"/>
                        <a14:foregroundMark x1="41516" y1="31408" x2="54874" y2="29603"/>
                        <a14:foregroundMark x1="54874" y1="29603" x2="42238" y2="34116"/>
                        <a14:foregroundMark x1="42238" y1="34116" x2="31949" y2="29783"/>
                        <a14:foregroundMark x1="31949" y1="29783" x2="43682" y2="29242"/>
                        <a14:foregroundMark x1="43682" y1="29242" x2="47834" y2="29242"/>
                        <a14:foregroundMark x1="34296" y1="51264" x2="43863" y2="61011"/>
                        <a14:foregroundMark x1="43863" y1="61011" x2="38087" y2="60650"/>
                        <a14:foregroundMark x1="49278" y1="71661" x2="46931" y2="81588"/>
                        <a14:foregroundMark x1="46931" y1="81588" x2="46931" y2="81588"/>
                        <a14:foregroundMark x1="30505" y1="59928" x2="25090" y2="65523"/>
                        <a14:foregroundMark x1="24007" y1="50000" x2="18773" y2="51444"/>
                        <a14:foregroundMark x1="21841" y1="46570" x2="14982" y2="46029"/>
                        <a14:foregroundMark x1="24188" y1="43141" x2="21300" y2="40614"/>
                        <a14:foregroundMark x1="29964" y1="25451" x2="27617" y2="25271"/>
                        <a14:foregroundMark x1="45668" y1="18412" x2="45668" y2="18412"/>
                        <a14:foregroundMark x1="50542" y1="17690" x2="50542" y2="17690"/>
                        <a14:foregroundMark x1="55776" y1="19675" x2="55776" y2="19675"/>
                        <a14:foregroundMark x1="73105" y1="26173" x2="73105" y2="26173"/>
                        <a14:foregroundMark x1="81047" y1="41336" x2="81047" y2="41336"/>
                        <a14:foregroundMark x1="80325" y1="46570" x2="80325" y2="46570"/>
                        <a14:foregroundMark x1="80686" y1="51986" x2="80686" y2="51986"/>
                        <a14:foregroundMark x1="74007" y1="62996" x2="74007" y2="629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76325" y="1024673"/>
            <a:ext cx="777737" cy="77773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DAC4E2-3EB0-7AF9-4430-1514D0C12A45}"/>
              </a:ext>
            </a:extLst>
          </p:cNvPr>
          <p:cNvSpPr txBox="1"/>
          <p:nvPr/>
        </p:nvSpPr>
        <p:spPr>
          <a:xfrm>
            <a:off x="9256165" y="1211616"/>
            <a:ext cx="23754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60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addresses the Problem by</a:t>
            </a:r>
            <a:endParaRPr lang="en-IN" sz="2000" b="1" dirty="0">
              <a:solidFill>
                <a:srgbClr val="0060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B98FC63-BD6F-BC2B-9A83-AB364933031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>
                        <a14:foregroundMark x1="45644" y1="62401" x2="45644" y2="62401"/>
                        <a14:foregroundMark x1="30039" y1="58443" x2="37841" y2="68338"/>
                        <a14:foregroundMark x1="28088" y1="52507" x2="63199" y2="40633"/>
                        <a14:foregroundMark x1="26138" y1="48549" x2="31990" y2="56464"/>
                        <a14:foregroundMark x1="31990" y1="56464" x2="45644" y2="62401"/>
                        <a14:foregroundMark x1="35891" y1="48549" x2="51495" y2="76253"/>
                        <a14:foregroundMark x1="41743" y1="50528" x2="55397" y2="64380"/>
                        <a14:foregroundMark x1="53446" y1="48549" x2="47594" y2="66359"/>
                        <a14:foregroundMark x1="68921" y1="40633" x2="49545" y2="624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73358" y="2000752"/>
            <a:ext cx="395743" cy="390082"/>
          </a:xfrm>
          <a:prstGeom prst="rect">
            <a:avLst/>
          </a:prstGeom>
          <a:noFill/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1BA1725-4015-C06D-5863-B723F08A5EBB}"/>
              </a:ext>
            </a:extLst>
          </p:cNvPr>
          <p:cNvSpPr txBox="1"/>
          <p:nvPr/>
        </p:nvSpPr>
        <p:spPr>
          <a:xfrm>
            <a:off x="9069101" y="1928291"/>
            <a:ext cx="271118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Direct market access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Connects farmers/FPOs directly with consumers and buyers.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6F4C62-7179-7C35-4516-7779788B9706}"/>
              </a:ext>
            </a:extLst>
          </p:cNvPr>
          <p:cNvSpPr txBox="1"/>
          <p:nvPr/>
        </p:nvSpPr>
        <p:spPr>
          <a:xfrm>
            <a:off x="9069101" y="2600263"/>
            <a:ext cx="313477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Better price discovery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Helps farmers access demand and market information.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B62101-908B-3DC3-52BE-A9698508F4BB}"/>
              </a:ext>
            </a:extLst>
          </p:cNvPr>
          <p:cNvSpPr txBox="1"/>
          <p:nvPr/>
        </p:nvSpPr>
        <p:spPr>
          <a:xfrm>
            <a:off x="9048009" y="3366913"/>
            <a:ext cx="317254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Reduce intermediary dependence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Fewer middlemen can improve transparency and farmer earnings.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65417C-8C36-6B3B-AB53-07AA2F214D83}"/>
              </a:ext>
            </a:extLst>
          </p:cNvPr>
          <p:cNvSpPr txBox="1"/>
          <p:nvPr/>
        </p:nvSpPr>
        <p:spPr>
          <a:xfrm>
            <a:off x="9057228" y="4081214"/>
            <a:ext cx="290549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Lower post-harvest losses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Coordinate logistics helps move produce efficiently and reduce wastage.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CEAF2E5B-F010-D29F-76D5-06CB84E270F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>
                        <a14:foregroundMark x1="45644" y1="62401" x2="45644" y2="62401"/>
                        <a14:foregroundMark x1="30039" y1="58443" x2="37841" y2="68338"/>
                        <a14:foregroundMark x1="28088" y1="52507" x2="63199" y2="40633"/>
                        <a14:foregroundMark x1="26138" y1="48549" x2="31990" y2="56464"/>
                        <a14:foregroundMark x1="31990" y1="56464" x2="45644" y2="62401"/>
                        <a14:foregroundMark x1="35891" y1="48549" x2="51495" y2="76253"/>
                        <a14:foregroundMark x1="41743" y1="50528" x2="55397" y2="64380"/>
                        <a14:foregroundMark x1="53446" y1="48549" x2="47594" y2="66359"/>
                        <a14:foregroundMark x1="68921" y1="40633" x2="49545" y2="624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69435" y="2647280"/>
            <a:ext cx="395743" cy="390082"/>
          </a:xfrm>
          <a:prstGeom prst="rect">
            <a:avLst/>
          </a:prstGeom>
          <a:noFill/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A04298B-2CB6-470D-9E77-5D99A42723B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>
                        <a14:foregroundMark x1="45644" y1="62401" x2="45644" y2="62401"/>
                        <a14:foregroundMark x1="30039" y1="58443" x2="37841" y2="68338"/>
                        <a14:foregroundMark x1="28088" y1="52507" x2="63199" y2="40633"/>
                        <a14:foregroundMark x1="26138" y1="48549" x2="31990" y2="56464"/>
                        <a14:foregroundMark x1="31990" y1="56464" x2="45644" y2="62401"/>
                        <a14:foregroundMark x1="35891" y1="48549" x2="51495" y2="76253"/>
                        <a14:foregroundMark x1="41743" y1="50528" x2="55397" y2="64380"/>
                        <a14:foregroundMark x1="53446" y1="48549" x2="47594" y2="66359"/>
                        <a14:foregroundMark x1="68921" y1="40633" x2="49545" y2="624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69434" y="3403557"/>
            <a:ext cx="395743" cy="390082"/>
          </a:xfrm>
          <a:prstGeom prst="rect">
            <a:avLst/>
          </a:prstGeom>
          <a:noFill/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4E2622B-CA09-30C3-E2D7-9FF0ECF1A93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>
                        <a14:foregroundMark x1="45644" y1="62401" x2="45644" y2="62401"/>
                        <a14:foregroundMark x1="30039" y1="58443" x2="37841" y2="68338"/>
                        <a14:foregroundMark x1="28088" y1="52507" x2="63199" y2="40633"/>
                        <a14:foregroundMark x1="26138" y1="48549" x2="31990" y2="56464"/>
                        <a14:foregroundMark x1="31990" y1="56464" x2="45644" y2="62401"/>
                        <a14:foregroundMark x1="35891" y1="48549" x2="51495" y2="76253"/>
                        <a14:foregroundMark x1="41743" y1="50528" x2="55397" y2="64380"/>
                        <a14:foregroundMark x1="53446" y1="48549" x2="47594" y2="66359"/>
                        <a14:foregroundMark x1="68921" y1="40633" x2="49545" y2="624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92824" y="4090314"/>
            <a:ext cx="395743" cy="390082"/>
          </a:xfrm>
          <a:prstGeom prst="rect">
            <a:avLst/>
          </a:prstGeom>
          <a:noFill/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445BFB1-D7FA-D0D6-1399-DF569979FC3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3298" b="92660" l="2989" r="98805">
                        <a14:foregroundMark x1="5439" y1="65426" x2="5439" y2="65426"/>
                        <a14:foregroundMark x1="5619" y1="32766" x2="5619" y2="32766"/>
                        <a14:foregroundMark x1="20562" y1="27340" x2="20562" y2="27340"/>
                        <a14:foregroundMark x1="31321" y1="48191" x2="31321" y2="48191"/>
                        <a14:foregroundMark x1="29886" y1="48830" x2="29886" y2="48830"/>
                        <a14:foregroundMark x1="17753" y1="48191" x2="17753" y2="48191"/>
                        <a14:foregroundMark x1="17753" y1="48191" x2="17753" y2="48191"/>
                        <a14:foregroundMark x1="16497" y1="48191" x2="16497" y2="48191"/>
                        <a14:foregroundMark x1="14226" y1="48511" x2="14226" y2="48511"/>
                        <a14:foregroundMark x1="10879" y1="48511" x2="10879" y2="48511"/>
                        <a14:foregroundMark x1="8787" y1="48511" x2="8787" y2="48511"/>
                        <a14:foregroundMark x1="7173" y1="48511" x2="7173" y2="48511"/>
                        <a14:foregroundMark x1="12672" y1="48511" x2="12672" y2="48511"/>
                        <a14:foregroundMark x1="15481" y1="48511" x2="15481" y2="48511"/>
                        <a14:foregroundMark x1="19845" y1="49149" x2="19845" y2="49149"/>
                        <a14:foregroundMark x1="18828" y1="48511" x2="18828" y2="48511"/>
                        <a14:foregroundMark x1="23551" y1="49149" x2="23551" y2="49149"/>
                        <a14:foregroundMark x1="22176" y1="48191" x2="22176" y2="48191"/>
                        <a14:foregroundMark x1="21279" y1="48191" x2="21279" y2="48191"/>
                        <a14:foregroundMark x1="23909" y1="48191" x2="23909" y2="48191"/>
                        <a14:foregroundMark x1="25523" y1="48511" x2="25523" y2="48511"/>
                        <a14:foregroundMark x1="28512" y1="48511" x2="28512" y2="48511"/>
                        <a14:foregroundMark x1="27077" y1="48511" x2="27077" y2="48511"/>
                        <a14:foregroundMark x1="38673" y1="10106" x2="38673" y2="10106"/>
                        <a14:foregroundMark x1="39211" y1="7340" x2="49492" y2="13404"/>
                        <a14:foregroundMark x1="49492" y1="13404" x2="57382" y2="11596"/>
                        <a14:foregroundMark x1="57382" y1="11596" x2="64734" y2="12021"/>
                        <a14:foregroundMark x1="64734" y1="12021" x2="61925" y2="14043"/>
                        <a14:foregroundMark x1="44531" y1="6383" x2="36103" y2="11809"/>
                        <a14:foregroundMark x1="36103" y1="11809" x2="36222" y2="18191"/>
                        <a14:foregroundMark x1="55051" y1="3404" x2="55051" y2="3404"/>
                        <a14:foregroundMark x1="34489" y1="7979" x2="34489" y2="7979"/>
                        <a14:foregroundMark x1="92887" y1="34255" x2="92887" y2="34255"/>
                        <a14:foregroundMark x1="95696" y1="36702" x2="95696" y2="36702"/>
                        <a14:foregroundMark x1="95039" y1="66915" x2="95039" y2="66915"/>
                        <a14:foregroundMark x1="48356" y1="50638" x2="48356" y2="50638"/>
                        <a14:foregroundMark x1="46981" y1="39468" x2="43335" y2="71809"/>
                        <a14:foregroundMark x1="43335" y1="71809" x2="49133" y2="90426"/>
                        <a14:foregroundMark x1="49133" y1="90426" x2="56067" y2="43936"/>
                        <a14:foregroundMark x1="56067" y1="43936" x2="47221" y2="39468"/>
                        <a14:foregroundMark x1="47221" y1="39468" x2="45726" y2="42447"/>
                        <a14:foregroundMark x1="66707" y1="89043" x2="66707" y2="89043"/>
                        <a14:foregroundMark x1="63180" y1="89043" x2="63180" y2="89043"/>
                        <a14:foregroundMark x1="63180" y1="91809" x2="63180" y2="91809"/>
                        <a14:foregroundMark x1="36760" y1="91489" x2="36760" y2="91489"/>
                        <a14:foregroundMark x1="34848" y1="88723" x2="34848" y2="88723"/>
                        <a14:foregroundMark x1="36940" y1="89681" x2="36940" y2="89681"/>
                        <a14:foregroundMark x1="78123" y1="27872" x2="78123" y2="27872"/>
                        <a14:foregroundMark x1="78123" y1="27872" x2="78123" y2="27872"/>
                        <a14:foregroundMark x1="82367" y1="28511" x2="82367" y2="28511"/>
                        <a14:foregroundMark x1="83921" y1="27660" x2="83921" y2="27660"/>
                        <a14:foregroundMark x1="87627" y1="27660" x2="87627" y2="27660"/>
                        <a14:foregroundMark x1="88524" y1="27872" x2="88524" y2="27872"/>
                        <a14:foregroundMark x1="88344" y1="29149" x2="88344" y2="29149"/>
                        <a14:foregroundMark x1="73042" y1="28191" x2="83562" y2="27660"/>
                        <a14:foregroundMark x1="83562" y1="27660" x2="83562" y2="27660"/>
                        <a14:foregroundMark x1="92050" y1="27660" x2="90436" y2="28191"/>
                        <a14:foregroundMark x1="35864" y1="92660" x2="35864" y2="92660"/>
                        <a14:foregroundMark x1="60849" y1="82340" x2="60849" y2="82340"/>
                        <a14:foregroundMark x1="64196" y1="77234" x2="64196" y2="77234"/>
                        <a14:foregroundMark x1="39570" y1="82979" x2="39570" y2="82979"/>
                        <a14:foregroundMark x1="39211" y1="81170" x2="39211" y2="81170"/>
                        <a14:foregroundMark x1="63180" y1="80532" x2="63180" y2="80532"/>
                        <a14:foregroundMark x1="35326" y1="79043" x2="35326" y2="79043"/>
                        <a14:foregroundMark x1="29528" y1="78723" x2="29528" y2="78723"/>
                        <a14:foregroundMark x1="31321" y1="78723" x2="31321" y2="78723"/>
                        <a14:foregroundMark x1="19665" y1="79681" x2="19665" y2="79681"/>
                        <a14:foregroundMark x1="21279" y1="78723" x2="21279" y2="78723"/>
                        <a14:foregroundMark x1="24806" y1="78723" x2="24806" y2="78723"/>
                        <a14:foregroundMark x1="26898" y1="79362" x2="26898" y2="79362"/>
                        <a14:foregroundMark x1="15123" y1="80000" x2="15123" y2="80000"/>
                        <a14:foregroundMark x1="19486" y1="78404" x2="19486" y2="78404"/>
                        <a14:foregroundMark x1="19187" y1="78723" x2="19187" y2="78723"/>
                        <a14:foregroundMark x1="12313" y1="78723" x2="12313" y2="78723"/>
                        <a14:foregroundMark x1="9504" y1="78404" x2="9504" y2="78404"/>
                        <a14:foregroundMark x1="14405" y1="78404" x2="14405" y2="78404"/>
                        <a14:foregroundMark x1="16497" y1="78404" x2="16497" y2="78404"/>
                        <a14:foregroundMark x1="96055" y1="71170" x2="96055" y2="71170"/>
                        <a14:foregroundMark x1="16019" y1="27021" x2="16019" y2="27021"/>
                        <a14:foregroundMark x1="12134" y1="27021" x2="12134" y2="27021"/>
                        <a14:foregroundMark x1="19008" y1="27872" x2="19008" y2="27872"/>
                        <a14:foregroundMark x1="25523" y1="27872" x2="25523" y2="27872"/>
                        <a14:foregroundMark x1="27974" y1="26383" x2="27974" y2="26383"/>
                        <a14:foregroundMark x1="22833" y1="27660" x2="22833" y2="27660"/>
                        <a14:foregroundMark x1="96593" y1="38191" x2="96593" y2="38191"/>
                        <a14:foregroundMark x1="96414" y1="69681" x2="96414" y2="69681"/>
                        <a14:foregroundMark x1="96414" y1="67234" x2="96414" y2="67234"/>
                        <a14:foregroundMark x1="96414" y1="67234" x2="96414" y2="67234"/>
                        <a14:foregroundMark x1="96414" y1="67234" x2="96414" y2="67234"/>
                        <a14:foregroundMark x1="96414" y1="67234" x2="95338" y2="72979"/>
                        <a14:foregroundMark x1="96593" y1="64787" x2="93784" y2="75745"/>
                        <a14:foregroundMark x1="96593" y1="67234" x2="96772" y2="73298"/>
                        <a14:foregroundMark x1="49671" y1="3404" x2="49671" y2="3404"/>
                        <a14:foregroundMark x1="49671" y1="3404" x2="49671" y2="3404"/>
                        <a14:foregroundMark x1="37179" y1="3723" x2="47998" y2="3404"/>
                        <a14:foregroundMark x1="47998" y1="3404" x2="61984" y2="5213"/>
                        <a14:foregroundMark x1="50209" y1="3404" x2="62702" y2="3723"/>
                        <a14:foregroundMark x1="60430" y1="3723" x2="62881" y2="3723"/>
                        <a14:foregroundMark x1="68679" y1="79681" x2="86910" y2="78404"/>
                        <a14:foregroundMark x1="86910" y1="78404" x2="90880" y2="79263"/>
                        <a14:foregroundMark x1="38434" y1="82021" x2="38434" y2="82021"/>
                        <a14:foregroundMark x1="38733" y1="84787" x2="38733" y2="84787"/>
                        <a14:foregroundMark x1="70950" y1="19681" x2="70950" y2="19681"/>
                        <a14:foregroundMark x1="69576" y1="24574" x2="69576" y2="24574"/>
                        <a14:foregroundMark x1="71130" y1="24894" x2="71130" y2="24894"/>
                        <a14:foregroundMark x1="59713" y1="3723" x2="63718" y2="3723"/>
                        <a14:foregroundMark x1="59354" y1="3404" x2="64077" y2="4043"/>
                        <a14:foregroundMark x1="5678" y1="34787" x2="13090" y2="48298"/>
                        <a14:foregroundMark x1="13090" y1="48298" x2="27615" y2="46383"/>
                        <a14:foregroundMark x1="27615" y1="46383" x2="28093" y2="46383"/>
                        <a14:foregroundMark x1="89600" y1="58617" x2="66766" y2="58298"/>
                        <a14:foregroundMark x1="66766" y1="58298" x2="66766" y2="58298"/>
                        <a14:foregroundMark x1="29468" y1="32340" x2="32576" y2="46064"/>
                        <a14:foregroundMark x1="28273" y1="19362" x2="28273" y2="19362"/>
                        <a14:foregroundMark x1="35864" y1="64574" x2="35864" y2="74043"/>
                        <a14:foregroundMark x1="35864" y1="43936" x2="38673" y2="65957"/>
                        <a14:foregroundMark x1="37956" y1="32660" x2="38434" y2="56489"/>
                        <a14:foregroundMark x1="38434" y1="56489" x2="38434" y2="56489"/>
                        <a14:foregroundMark x1="48834" y1="27447" x2="60012" y2="30957"/>
                        <a14:foregroundMark x1="60012" y1="30957" x2="60132" y2="31702"/>
                        <a14:foregroundMark x1="49791" y1="26383" x2="60012" y2="26064"/>
                        <a14:foregroundMark x1="60012" y1="26064" x2="64136" y2="26064"/>
                        <a14:foregroundMark x1="62044" y1="32340" x2="65093" y2="53511"/>
                        <a14:foregroundMark x1="65093" y1="53511" x2="64614" y2="57979"/>
                        <a14:foregroundMark x1="19366" y1="67766" x2="15780" y2="78936"/>
                        <a14:foregroundMark x1="3527" y1="66702" x2="12134" y2="73936"/>
                        <a14:foregroundMark x1="12134" y1="73936" x2="13927" y2="72660"/>
                        <a14:foregroundMark x1="26898" y1="23936" x2="26898" y2="23936"/>
                        <a14:foregroundMark x1="27376" y1="24681" x2="27376" y2="27128"/>
                        <a14:foregroundMark x1="31142" y1="22553" x2="31142" y2="22553"/>
                        <a14:foregroundMark x1="3048" y1="36170" x2="3048" y2="36170"/>
                        <a14:foregroundMark x1="18888" y1="59043" x2="18888" y2="59043"/>
                        <a14:foregroundMark x1="19127" y1="58617" x2="19127" y2="58617"/>
                        <a14:foregroundMark x1="19127" y1="58617" x2="9922" y2="58617"/>
                        <a14:foregroundMark x1="9922" y1="58617" x2="9922" y2="58617"/>
                        <a14:foregroundMark x1="9444" y1="58298" x2="3766" y2="58617"/>
                        <a14:foregroundMark x1="19127" y1="59043" x2="28512" y2="59681"/>
                        <a14:foregroundMark x1="20024" y1="59043" x2="27376" y2="59043"/>
                        <a14:foregroundMark x1="19785" y1="59362" x2="28273" y2="59043"/>
                        <a14:foregroundMark x1="19127" y1="59043" x2="28273" y2="58298"/>
                        <a14:foregroundMark x1="28273" y1="58298" x2="28273" y2="58298"/>
                        <a14:foregroundMark x1="85894" y1="79043" x2="85894" y2="79043"/>
                        <a14:foregroundMark x1="90965" y1="79025" x2="88105" y2="78298"/>
                        <a14:foregroundMark x1="88105" y1="79043" x2="84997" y2="78298"/>
                        <a14:foregroundMark x1="90751" y1="79622" x2="80036" y2="78723"/>
                        <a14:foregroundMark x1="91871" y1="77872" x2="76151" y2="79043"/>
                        <a14:foregroundMark x1="89839" y1="79681" x2="74477" y2="79362"/>
                        <a14:foregroundMark x1="95756" y1="76596" x2="94871" y2="77711"/>
                        <a14:foregroundMark x1="92469" y1="78404" x2="93903" y2="80319"/>
                        <a14:foregroundMark x1="94919" y1="78191" x2="90855" y2="80000"/>
                        <a14:foregroundMark x1="95935" y1="79043" x2="93305" y2="79043"/>
                        <a14:backgroundMark x1="7890" y1="54574" x2="26898" y2="52128"/>
                        <a14:backgroundMark x1="26898" y1="52128" x2="27615" y2="52128"/>
                        <a14:backgroundMark x1="97191" y1="80000" x2="96642" y2="80000"/>
                        <a14:backgroundMark x1="64973" y1="80000" x2="65870" y2="81809"/>
                        <a14:backgroundMark x1="31022" y1="84468" x2="35386" y2="81809"/>
                        <a14:backgroundMark x1="37717" y1="84787" x2="37717" y2="84787"/>
                        <a14:backgroundMark x1="65152" y1="25532" x2="65152" y2="25532"/>
                        <a14:backgroundMark x1="35087" y1="24894" x2="35087" y2="24894"/>
                        <a14:backgroundMark x1="65332" y1="28511" x2="65332" y2="28511"/>
                        <a14:backgroundMark x1="97191" y1="32340" x2="99283" y2="37234"/>
                        <a14:backgroundMark x1="90616" y1="80000" x2="90855" y2="8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76205" y="1292385"/>
            <a:ext cx="5597895" cy="3728912"/>
          </a:xfrm>
          <a:prstGeom prst="rect">
            <a:avLst/>
          </a:prstGeom>
          <a:noFill/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EEA6437-BA9A-DB58-CE3F-51F2D835BB03}"/>
              </a:ext>
            </a:extLst>
          </p:cNvPr>
          <p:cNvSpPr txBox="1"/>
          <p:nvPr/>
        </p:nvSpPr>
        <p:spPr>
          <a:xfrm>
            <a:off x="9624069" y="5018076"/>
            <a:ext cx="10102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endParaRPr lang="en-IN" sz="20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7D84859D-47B4-9123-759B-735E0361B79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072" y="5101083"/>
            <a:ext cx="340581" cy="34058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E29AB5F7-FCD0-19DB-654E-DA9F2FDBC13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1837" b="97551" l="2292" r="99375">
                        <a14:foregroundMark x1="49479" y1="6122" x2="49479" y2="6122"/>
                        <a14:foregroundMark x1="53542" y1="5714" x2="53542" y2="5714"/>
                        <a14:foregroundMark x1="48229" y1="3878" x2="32292" y2="10000"/>
                        <a14:foregroundMark x1="32292" y1="10000" x2="24271" y2="15510"/>
                        <a14:foregroundMark x1="13352" y1="29478" x2="12763" y2="30204"/>
                        <a14:foregroundMark x1="27813" y1="11633" x2="14081" y2="28578"/>
                        <a14:foregroundMark x1="9575" y1="39356" x2="6458" y2="50612"/>
                        <a14:foregroundMark x1="6458" y1="50612" x2="7708" y2="68469"/>
                        <a14:foregroundMark x1="37813" y1="9184" x2="19063" y2="18673"/>
                        <a14:foregroundMark x1="10080" y1="39532" x2="5000" y2="51327"/>
                        <a14:foregroundMark x1="13966" y1="30510" x2="13673" y2="31190"/>
                        <a14:foregroundMark x1="14117" y1="30160" x2="13966" y2="30510"/>
                        <a14:foregroundMark x1="19063" y1="18673" x2="14599" y2="29040"/>
                        <a14:foregroundMark x1="56875" y1="3980" x2="28542" y2="5204"/>
                        <a14:foregroundMark x1="9856" y1="35204" x2="2292" y2="47347"/>
                        <a14:foregroundMark x1="13397" y1="29518" x2="12894" y2="30325"/>
                        <a14:foregroundMark x1="28542" y1="5204" x2="14017" y2="28522"/>
                        <a14:foregroundMark x1="48229" y1="1837" x2="75417" y2="12857"/>
                        <a14:foregroundMark x1="75417" y1="12857" x2="81875" y2="21020"/>
                        <a14:foregroundMark x1="81875" y1="21020" x2="83223" y2="25325"/>
                        <a14:foregroundMark x1="89896" y1="27041" x2="99375" y2="43878"/>
                        <a14:foregroundMark x1="99375" y1="43878" x2="93750" y2="67857"/>
                        <a14:foregroundMark x1="93750" y1="67857" x2="92500" y2="69184"/>
                        <a14:foregroundMark x1="94167" y1="29694" x2="99479" y2="40714"/>
                        <a14:foregroundMark x1="99479" y1="40714" x2="99479" y2="40714"/>
                        <a14:foregroundMark x1="26146" y1="85816" x2="31042" y2="90816"/>
                        <a14:foregroundMark x1="31042" y1="90816" x2="48333" y2="93163"/>
                        <a14:foregroundMark x1="48333" y1="93163" x2="76354" y2="89490"/>
                        <a14:foregroundMark x1="48229" y1="97551" x2="48229" y2="97551"/>
                        <a14:foregroundMark x1="50104" y1="47041" x2="50104" y2="47041"/>
                        <a14:backgroundMark x1="11667" y1="35204" x2="11667" y2="35204"/>
                        <a14:backgroundMark x1="14063" y1="31327" x2="10833" y2="39796"/>
                        <a14:backgroundMark x1="10833" y1="39796" x2="14063" y2="34490"/>
                        <a14:backgroundMark x1="13750" y1="30510" x2="13750" y2="30510"/>
                        <a14:backgroundMark x1="13750" y1="31122" x2="13021" y2="31633"/>
                        <a14:backgroundMark x1="85313" y1="30306" x2="89271" y2="36429"/>
                        <a14:backgroundMark x1="89271" y1="36429" x2="89271" y2="36837"/>
                        <a14:backgroundMark x1="84167" y1="28980" x2="87188" y2="42959"/>
                        <a14:backgroundMark x1="84167" y1="26122" x2="84167" y2="26122"/>
                        <a14:backgroundMark x1="83750" y1="27653" x2="85833" y2="30000"/>
                        <a14:backgroundMark x1="82396" y1="26020" x2="84688" y2="27959"/>
                        <a14:backgroundMark x1="15104" y1="29490" x2="14167" y2="30204"/>
                        <a14:backgroundMark x1="13021" y1="31020" x2="13021" y2="3102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8645179" y="5464310"/>
            <a:ext cx="194295" cy="198342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68AA51B5-D8C0-D71E-50DE-7120675E24A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ackgroundRemoval t="10000" b="90000" l="10000" r="90000">
                        <a14:foregroundMark x1="74667" y1="26667" x2="74667" y2="26667"/>
                        <a14:foregroundMark x1="74667" y1="26667" x2="82000" y2="36667"/>
                        <a14:foregroundMark x1="69000" y1="24000" x2="80000" y2="42000"/>
                        <a14:foregroundMark x1="80000" y1="42000" x2="80000" y2="42000"/>
                        <a14:foregroundMark x1="80000" y1="40000" x2="80000" y2="40000"/>
                        <a14:foregroundMark x1="80000" y1="36333" x2="80000" y2="36333"/>
                        <a14:foregroundMark x1="69000" y1="22333" x2="72333" y2="26667"/>
                        <a14:foregroundMark x1="58000" y1="15333" x2="64000" y2="21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93917" y="5736385"/>
            <a:ext cx="267258" cy="267258"/>
          </a:xfrm>
          <a:prstGeom prst="rect">
            <a:avLst/>
          </a:prstGeom>
        </p:spPr>
      </p:pic>
      <p:pic>
        <p:nvPicPr>
          <p:cNvPr id="82" name="Graphic 81" descr="Leaf">
            <a:extLst>
              <a:ext uri="{FF2B5EF4-FFF2-40B4-BE49-F238E27FC236}">
                <a16:creationId xmlns:a16="http://schemas.microsoft.com/office/drawing/2014/main" id="{77FD8E0A-9A91-9967-8CF2-3A521574C4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600398" y="6016465"/>
            <a:ext cx="238819" cy="238819"/>
          </a:xfrm>
          <a:prstGeom prst="rect">
            <a:avLst/>
          </a:prstGeom>
        </p:spPr>
      </p:pic>
      <p:pic>
        <p:nvPicPr>
          <p:cNvPr id="84" name="Graphic 83" descr="Users">
            <a:extLst>
              <a:ext uri="{FF2B5EF4-FFF2-40B4-BE49-F238E27FC236}">
                <a16:creationId xmlns:a16="http://schemas.microsoft.com/office/drawing/2014/main" id="{E6B52C42-1047-A399-B31D-DB736608FC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641781" y="6277648"/>
            <a:ext cx="225266" cy="2252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08554C-DFB8-7B27-764F-A26B8DCA777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567" y="16143"/>
            <a:ext cx="1777224" cy="8391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350DEF-51CF-7972-9333-DFEC2AC99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2800"/>
            <a:ext cx="12191999" cy="2052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0C11D63-9142-DA98-B714-70DFD406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9970" y="6494786"/>
            <a:ext cx="392430" cy="480012"/>
          </a:xfrm>
        </p:spPr>
        <p:txBody>
          <a:bodyPr/>
          <a:lstStyle/>
          <a:p>
            <a:fld id="{677C3CE7-23F7-4828-823C-E0205DF2CF97}" type="slidenum">
              <a:rPr lang="en-US" sz="1800" b="1">
                <a:solidFill>
                  <a:schemeClr val="bg1"/>
                </a:solidFill>
              </a:rPr>
              <a:pPr/>
              <a:t>2</a:t>
            </a:fld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43F550F0-BCF1-B763-A28D-1DC8BC46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574110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2800"/>
            <a:ext cx="12191999" cy="2052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860314" y="64066"/>
            <a:ext cx="4282311" cy="46629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89970" y="6494786"/>
            <a:ext cx="392430" cy="480012"/>
          </a:xfrm>
        </p:spPr>
        <p:txBody>
          <a:bodyPr/>
          <a:lstStyle/>
          <a:p>
            <a:fld id="{677C3CE7-23F7-4828-823C-E0205DF2CF97}" type="slidenum">
              <a:rPr lang="en-US" sz="1800" b="1">
                <a:solidFill>
                  <a:schemeClr val="bg1"/>
                </a:solidFill>
              </a:rPr>
              <a:pPr/>
              <a:t>3</a:t>
            </a:fld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74110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567" y="16143"/>
            <a:ext cx="1777224" cy="839172"/>
          </a:xfrm>
          <a:prstGeom prst="rect">
            <a:avLst/>
          </a:prstGeom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E70286C8-7623-41DF-4575-340DA82F835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60806"/>
            <a:ext cx="1552436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Parallax</a:t>
            </a:r>
            <a:endParaRPr lang="en-IN" sz="20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87534B-0257-0BE9-80F8-3E7013033D20}"/>
              </a:ext>
            </a:extLst>
          </p:cNvPr>
          <p:cNvSpPr/>
          <p:nvPr/>
        </p:nvSpPr>
        <p:spPr>
          <a:xfrm>
            <a:off x="144701" y="987476"/>
            <a:ext cx="3162018" cy="5586633"/>
          </a:xfrm>
          <a:prstGeom prst="roundRect">
            <a:avLst>
              <a:gd name="adj" fmla="val 9809"/>
            </a:avLst>
          </a:prstGeom>
          <a:noFill/>
          <a:ln w="28575">
            <a:solidFill>
              <a:srgbClr val="00B45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F11BB-D8DD-1625-9ED6-780A76A724BE}"/>
              </a:ext>
            </a:extLst>
          </p:cNvPr>
          <p:cNvSpPr txBox="1"/>
          <p:nvPr/>
        </p:nvSpPr>
        <p:spPr>
          <a:xfrm>
            <a:off x="193045" y="1340512"/>
            <a:ext cx="958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lang="en-IN" sz="14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E04E3BD-D450-8DC0-5C86-E51091AF144E}"/>
              </a:ext>
            </a:extLst>
          </p:cNvPr>
          <p:cNvSpPr/>
          <p:nvPr/>
        </p:nvSpPr>
        <p:spPr>
          <a:xfrm>
            <a:off x="238609" y="1877403"/>
            <a:ext cx="676312" cy="235385"/>
          </a:xfrm>
          <a:prstGeom prst="roundRect">
            <a:avLst/>
          </a:prstGeom>
          <a:solidFill>
            <a:srgbClr val="FFF2C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endParaRPr lang="en-IN" sz="10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9B7EEF-AE9E-B23C-D68E-13E1E12BF31A}"/>
              </a:ext>
            </a:extLst>
          </p:cNvPr>
          <p:cNvSpPr txBox="1"/>
          <p:nvPr/>
        </p:nvSpPr>
        <p:spPr>
          <a:xfrm>
            <a:off x="141202" y="1599664"/>
            <a:ext cx="32205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Web: Html5 + CSS3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Bootsrap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F123AFD-4181-B0D9-A35C-1FB2295885CD}"/>
              </a:ext>
            </a:extLst>
          </p:cNvPr>
          <p:cNvSpPr/>
          <p:nvPr/>
        </p:nvSpPr>
        <p:spPr>
          <a:xfrm>
            <a:off x="2283185" y="1917880"/>
            <a:ext cx="933419" cy="205200"/>
          </a:xfrm>
          <a:prstGeom prst="roundRect">
            <a:avLst/>
          </a:prstGeom>
          <a:solidFill>
            <a:srgbClr val="D6BBE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  <a:endParaRPr lang="en-IN" sz="1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DB58EE6-F4CE-8527-4D7C-C5A770BEC55E}"/>
              </a:ext>
            </a:extLst>
          </p:cNvPr>
          <p:cNvSpPr/>
          <p:nvPr/>
        </p:nvSpPr>
        <p:spPr>
          <a:xfrm>
            <a:off x="1684944" y="1907588"/>
            <a:ext cx="466830" cy="205200"/>
          </a:xfrm>
          <a:prstGeom prst="round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endParaRPr lang="en-IN" sz="10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B82BE26-4EB1-36FA-A5C5-C4FFDB546EC5}"/>
              </a:ext>
            </a:extLst>
          </p:cNvPr>
          <p:cNvSpPr/>
          <p:nvPr/>
        </p:nvSpPr>
        <p:spPr>
          <a:xfrm>
            <a:off x="1047501" y="1905803"/>
            <a:ext cx="511687" cy="195532"/>
          </a:xfrm>
          <a:prstGeom prst="roundRect">
            <a:avLst/>
          </a:prstGeom>
          <a:solidFill>
            <a:srgbClr val="ABE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endParaRPr lang="en-IN" sz="10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547116-A6BC-8D8D-9041-90A0942BD234}"/>
              </a:ext>
            </a:extLst>
          </p:cNvPr>
          <p:cNvSpPr txBox="1"/>
          <p:nvPr/>
        </p:nvSpPr>
        <p:spPr>
          <a:xfrm>
            <a:off x="220155" y="2245260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endParaRPr lang="en-IN" sz="14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Graphic 37" descr="Server">
            <a:extLst>
              <a:ext uri="{FF2B5EF4-FFF2-40B4-BE49-F238E27FC236}">
                <a16:creationId xmlns:a16="http://schemas.microsoft.com/office/drawing/2014/main" id="{D35388B0-BF0D-571B-2199-A3C2AC0E5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2176" y="2235587"/>
            <a:ext cx="488996" cy="48899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37C159F-F96B-93E2-D19A-6C41A1303817}"/>
              </a:ext>
            </a:extLst>
          </p:cNvPr>
          <p:cNvSpPr txBox="1"/>
          <p:nvPr/>
        </p:nvSpPr>
        <p:spPr>
          <a:xfrm>
            <a:off x="225515" y="2541530"/>
            <a:ext cx="2950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Flask + REST APIs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4FCEBD7-A361-F3F8-2C58-F365DE8CF424}"/>
              </a:ext>
            </a:extLst>
          </p:cNvPr>
          <p:cNvSpPr/>
          <p:nvPr/>
        </p:nvSpPr>
        <p:spPr>
          <a:xfrm>
            <a:off x="245402" y="2822774"/>
            <a:ext cx="707233" cy="168151"/>
          </a:xfrm>
          <a:prstGeom prst="roundRect">
            <a:avLst/>
          </a:prstGeom>
          <a:solidFill>
            <a:srgbClr val="ABE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en-IN" sz="10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D76378B-C529-2702-E56D-8B038715B9E2}"/>
              </a:ext>
            </a:extLst>
          </p:cNvPr>
          <p:cNvSpPr/>
          <p:nvPr/>
        </p:nvSpPr>
        <p:spPr>
          <a:xfrm>
            <a:off x="1121065" y="2825997"/>
            <a:ext cx="522453" cy="165989"/>
          </a:xfrm>
          <a:prstGeom prst="roundRect">
            <a:avLst/>
          </a:prstGeom>
          <a:solidFill>
            <a:srgbClr val="C9E7A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0060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Flask</a:t>
            </a:r>
            <a:endParaRPr lang="en-IN" sz="1000" b="1" dirty="0">
              <a:solidFill>
                <a:srgbClr val="0060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97FF9C8-93F2-A219-D81B-E3E5375381D2}"/>
              </a:ext>
            </a:extLst>
          </p:cNvPr>
          <p:cNvSpPr/>
          <p:nvPr/>
        </p:nvSpPr>
        <p:spPr>
          <a:xfrm>
            <a:off x="1925324" y="2814733"/>
            <a:ext cx="855839" cy="186676"/>
          </a:xfrm>
          <a:prstGeom prst="roundRect">
            <a:avLst/>
          </a:prstGeom>
          <a:solidFill>
            <a:srgbClr val="D6BBE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 API</a:t>
            </a:r>
            <a:endParaRPr lang="en-IN" sz="1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0428F1-E2AB-6E86-077C-3DF541CEFCE8}"/>
              </a:ext>
            </a:extLst>
          </p:cNvPr>
          <p:cNvSpPr txBox="1"/>
          <p:nvPr/>
        </p:nvSpPr>
        <p:spPr>
          <a:xfrm>
            <a:off x="216096" y="3094838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lang="en-IN" sz="14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Graphic 46" descr="Database">
            <a:extLst>
              <a:ext uri="{FF2B5EF4-FFF2-40B4-BE49-F238E27FC236}">
                <a16:creationId xmlns:a16="http://schemas.microsoft.com/office/drawing/2014/main" id="{3D874E7F-D666-67F8-F4C9-1147B05D42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7189" y="3184196"/>
            <a:ext cx="533983" cy="533983"/>
          </a:xfrm>
          <a:prstGeom prst="rect">
            <a:avLst/>
          </a:prstGeom>
        </p:spPr>
      </p:pic>
      <p:pic>
        <p:nvPicPr>
          <p:cNvPr id="49" name="Graphic 48" descr="Monitor">
            <a:extLst>
              <a:ext uri="{FF2B5EF4-FFF2-40B4-BE49-F238E27FC236}">
                <a16:creationId xmlns:a16="http://schemas.microsoft.com/office/drawing/2014/main" id="{8A885A42-F35D-5405-A97E-21E8BF6236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6566" y="1293567"/>
            <a:ext cx="457200" cy="424160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F40CEBB-AC2D-E967-9100-93053BC862B1}"/>
              </a:ext>
            </a:extLst>
          </p:cNvPr>
          <p:cNvSpPr/>
          <p:nvPr/>
        </p:nvSpPr>
        <p:spPr>
          <a:xfrm>
            <a:off x="254532" y="3601218"/>
            <a:ext cx="999488" cy="168151"/>
          </a:xfrm>
          <a:prstGeom prst="roundRect">
            <a:avLst/>
          </a:prstGeom>
          <a:solidFill>
            <a:srgbClr val="ABE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en-IN" sz="10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39BB5A-F014-E7F3-22C2-CB1BF8286A35}"/>
              </a:ext>
            </a:extLst>
          </p:cNvPr>
          <p:cNvSpPr txBox="1"/>
          <p:nvPr/>
        </p:nvSpPr>
        <p:spPr>
          <a:xfrm>
            <a:off x="191474" y="3346109"/>
            <a:ext cx="2612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PostgreSQL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9C5F6B2-E422-7EE3-787D-A485DA5C3EE3}"/>
              </a:ext>
            </a:extLst>
          </p:cNvPr>
          <p:cNvSpPr/>
          <p:nvPr/>
        </p:nvSpPr>
        <p:spPr>
          <a:xfrm>
            <a:off x="1409577" y="3605838"/>
            <a:ext cx="1062055" cy="182754"/>
          </a:xfrm>
          <a:prstGeom prst="roundRect">
            <a:avLst/>
          </a:prstGeom>
          <a:solidFill>
            <a:srgbClr val="D6BBE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endParaRPr lang="en-IN" sz="1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E762894-1F87-95F9-44F9-9FF39E77B3EF}"/>
              </a:ext>
            </a:extLst>
          </p:cNvPr>
          <p:cNvCxnSpPr>
            <a:cxnSpLocks/>
          </p:cNvCxnSpPr>
          <p:nvPr/>
        </p:nvCxnSpPr>
        <p:spPr>
          <a:xfrm>
            <a:off x="204281" y="2167448"/>
            <a:ext cx="3071915" cy="16136"/>
          </a:xfrm>
          <a:prstGeom prst="line">
            <a:avLst/>
          </a:prstGeom>
          <a:ln w="28575" cap="flat" cmpd="sng" algn="ctr">
            <a:solidFill>
              <a:srgbClr val="BAFD9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9" name="Graphic 58" descr="Processor">
            <a:extLst>
              <a:ext uri="{FF2B5EF4-FFF2-40B4-BE49-F238E27FC236}">
                <a16:creationId xmlns:a16="http://schemas.microsoft.com/office/drawing/2014/main" id="{DF0605BE-6809-B58B-E2D3-833078A4C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5241" y="3860244"/>
            <a:ext cx="227913" cy="227913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FFE0B38-0721-2FE7-6621-8D152FB3427E}"/>
              </a:ext>
            </a:extLst>
          </p:cNvPr>
          <p:cNvSpPr txBox="1"/>
          <p:nvPr/>
        </p:nvSpPr>
        <p:spPr>
          <a:xfrm>
            <a:off x="229931" y="3824211"/>
            <a:ext cx="795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/ ML</a:t>
            </a:r>
            <a:endParaRPr lang="en-IN" sz="14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9F4E66-7E2B-8A41-9EF1-59732619388A}"/>
              </a:ext>
            </a:extLst>
          </p:cNvPr>
          <p:cNvSpPr txBox="1"/>
          <p:nvPr/>
        </p:nvSpPr>
        <p:spPr>
          <a:xfrm>
            <a:off x="144682" y="4790647"/>
            <a:ext cx="2799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Leaflet + OpenStreetMap + OSRM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985FE62-5EBC-A65A-3345-5B6A1CE20B03}"/>
              </a:ext>
            </a:extLst>
          </p:cNvPr>
          <p:cNvSpPr/>
          <p:nvPr/>
        </p:nvSpPr>
        <p:spPr>
          <a:xfrm>
            <a:off x="306795" y="4305211"/>
            <a:ext cx="701864" cy="166905"/>
          </a:xfrm>
          <a:prstGeom prst="roundRect">
            <a:avLst/>
          </a:prstGeom>
          <a:solidFill>
            <a:srgbClr val="C9E7A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0060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  <a:endParaRPr lang="en-IN" sz="1000" b="1" dirty="0">
              <a:solidFill>
                <a:srgbClr val="0060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DBD5A2E-4D78-C6EA-7B03-B4BDCCFF42D0}"/>
              </a:ext>
            </a:extLst>
          </p:cNvPr>
          <p:cNvSpPr/>
          <p:nvPr/>
        </p:nvSpPr>
        <p:spPr>
          <a:xfrm>
            <a:off x="1113525" y="4312427"/>
            <a:ext cx="701864" cy="159689"/>
          </a:xfrm>
          <a:prstGeom prst="roundRect">
            <a:avLst/>
          </a:prstGeom>
          <a:solidFill>
            <a:srgbClr val="ABE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n-IN" sz="10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08" name="Rectangle: Rounded Corners 17407">
            <a:extLst>
              <a:ext uri="{FF2B5EF4-FFF2-40B4-BE49-F238E27FC236}">
                <a16:creationId xmlns:a16="http://schemas.microsoft.com/office/drawing/2014/main" id="{10F10690-9943-07A2-B0DA-6C7B0C44D288}"/>
              </a:ext>
            </a:extLst>
          </p:cNvPr>
          <p:cNvSpPr/>
          <p:nvPr/>
        </p:nvSpPr>
        <p:spPr>
          <a:xfrm>
            <a:off x="1913047" y="4305211"/>
            <a:ext cx="890466" cy="181393"/>
          </a:xfrm>
          <a:prstGeom prst="roundRect">
            <a:avLst/>
          </a:prstGeom>
          <a:solidFill>
            <a:srgbClr val="D6BBE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Scikit-learn</a:t>
            </a:r>
            <a:endParaRPr lang="en-IN" sz="1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15" name="Picture 17414">
            <a:extLst>
              <a:ext uri="{FF2B5EF4-FFF2-40B4-BE49-F238E27FC236}">
                <a16:creationId xmlns:a16="http://schemas.microsoft.com/office/drawing/2014/main" id="{BA938345-1F0B-5447-3F9C-BFED9BFDA5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89" b="95556" l="3556" r="95111">
                        <a14:foregroundMark x1="43556" y1="8889" x2="43556" y2="8889"/>
                        <a14:foregroundMark x1="55111" y1="5333" x2="55111" y2="5333"/>
                        <a14:foregroundMark x1="51556" y1="889" x2="51556" y2="889"/>
                        <a14:foregroundMark x1="84444" y1="74667" x2="84444" y2="74667"/>
                        <a14:foregroundMark x1="92000" y1="87556" x2="92000" y2="87556"/>
                        <a14:foregroundMark x1="8444" y1="75556" x2="20889" y2="73333"/>
                        <a14:foregroundMark x1="3556" y1="84000" x2="3556" y2="84000"/>
                        <a14:foregroundMark x1="30667" y1="95556" x2="30667" y2="95556"/>
                        <a14:foregroundMark x1="95111" y1="81333" x2="95111" y2="81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28815" y="4596187"/>
            <a:ext cx="358834" cy="358834"/>
          </a:xfrm>
          <a:prstGeom prst="rect">
            <a:avLst/>
          </a:prstGeom>
        </p:spPr>
      </p:pic>
      <p:sp>
        <p:nvSpPr>
          <p:cNvPr id="17416" name="TextBox 17415">
            <a:extLst>
              <a:ext uri="{FF2B5EF4-FFF2-40B4-BE49-F238E27FC236}">
                <a16:creationId xmlns:a16="http://schemas.microsoft.com/office/drawing/2014/main" id="{61DB8989-E363-DC20-1B31-D436C9B5B41B}"/>
              </a:ext>
            </a:extLst>
          </p:cNvPr>
          <p:cNvSpPr txBox="1"/>
          <p:nvPr/>
        </p:nvSpPr>
        <p:spPr>
          <a:xfrm>
            <a:off x="168655" y="4567475"/>
            <a:ext cx="1648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Maps &amp; Routing</a:t>
            </a:r>
            <a:endParaRPr lang="en-IN" sz="14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7" name="TextBox 17416">
            <a:extLst>
              <a:ext uri="{FF2B5EF4-FFF2-40B4-BE49-F238E27FC236}">
                <a16:creationId xmlns:a16="http://schemas.microsoft.com/office/drawing/2014/main" id="{044BD8C7-D8D5-18BA-A9E4-71B5BBA7E640}"/>
              </a:ext>
            </a:extLst>
          </p:cNvPr>
          <p:cNvSpPr txBox="1"/>
          <p:nvPr/>
        </p:nvSpPr>
        <p:spPr>
          <a:xfrm>
            <a:off x="191474" y="4029500"/>
            <a:ext cx="3162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+ Pandas + NumPy + Scikit-learn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8" name="Rectangle: Rounded Corners 17417">
            <a:extLst>
              <a:ext uri="{FF2B5EF4-FFF2-40B4-BE49-F238E27FC236}">
                <a16:creationId xmlns:a16="http://schemas.microsoft.com/office/drawing/2014/main" id="{23A491E2-3C39-DA8B-1AFC-4BCAF3932423}"/>
              </a:ext>
            </a:extLst>
          </p:cNvPr>
          <p:cNvSpPr/>
          <p:nvPr/>
        </p:nvSpPr>
        <p:spPr>
          <a:xfrm>
            <a:off x="227622" y="5016651"/>
            <a:ext cx="701864" cy="166905"/>
          </a:xfrm>
          <a:prstGeom prst="roundRect">
            <a:avLst/>
          </a:prstGeom>
          <a:solidFill>
            <a:srgbClr val="C9E7A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0060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Leaflet</a:t>
            </a:r>
            <a:endParaRPr lang="en-IN" sz="1000" b="1" dirty="0">
              <a:solidFill>
                <a:srgbClr val="0060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9" name="Rectangle: Rounded Corners 17418">
            <a:extLst>
              <a:ext uri="{FF2B5EF4-FFF2-40B4-BE49-F238E27FC236}">
                <a16:creationId xmlns:a16="http://schemas.microsoft.com/office/drawing/2014/main" id="{A9DA7814-4115-0F87-FE6B-E80D7FE8E1BB}"/>
              </a:ext>
            </a:extLst>
          </p:cNvPr>
          <p:cNvSpPr/>
          <p:nvPr/>
        </p:nvSpPr>
        <p:spPr>
          <a:xfrm>
            <a:off x="1012426" y="5023867"/>
            <a:ext cx="1289895" cy="186404"/>
          </a:xfrm>
          <a:prstGeom prst="roundRect">
            <a:avLst/>
          </a:prstGeom>
          <a:solidFill>
            <a:srgbClr val="ABE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OpenStreetMap</a:t>
            </a:r>
            <a:endParaRPr lang="en-IN" sz="10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0" name="Rectangle: Rounded Corners 17419">
            <a:extLst>
              <a:ext uri="{FF2B5EF4-FFF2-40B4-BE49-F238E27FC236}">
                <a16:creationId xmlns:a16="http://schemas.microsoft.com/office/drawing/2014/main" id="{E59102A3-0FA0-6B2F-6390-18E38AACE2C3}"/>
              </a:ext>
            </a:extLst>
          </p:cNvPr>
          <p:cNvSpPr/>
          <p:nvPr/>
        </p:nvSpPr>
        <p:spPr>
          <a:xfrm>
            <a:off x="2427018" y="5016681"/>
            <a:ext cx="606106" cy="166209"/>
          </a:xfrm>
          <a:prstGeom prst="roundRect">
            <a:avLst/>
          </a:prstGeom>
          <a:solidFill>
            <a:srgbClr val="D6BBE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OSRM</a:t>
            </a:r>
            <a:endParaRPr lang="en-IN" sz="1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23" name="Graphic 17422" descr="Gears">
            <a:extLst>
              <a:ext uri="{FF2B5EF4-FFF2-40B4-BE49-F238E27FC236}">
                <a16:creationId xmlns:a16="http://schemas.microsoft.com/office/drawing/2014/main" id="{20B3B285-2BA9-CE83-F2E5-FC6B15E1EF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27189" y="5221955"/>
            <a:ext cx="490238" cy="490238"/>
          </a:xfrm>
          <a:prstGeom prst="rect">
            <a:avLst/>
          </a:prstGeom>
        </p:spPr>
      </p:pic>
      <p:sp>
        <p:nvSpPr>
          <p:cNvPr id="17425" name="TextBox 17424">
            <a:extLst>
              <a:ext uri="{FF2B5EF4-FFF2-40B4-BE49-F238E27FC236}">
                <a16:creationId xmlns:a16="http://schemas.microsoft.com/office/drawing/2014/main" id="{C4D1469A-5975-6851-8D06-9BFD4F4E455E}"/>
              </a:ext>
            </a:extLst>
          </p:cNvPr>
          <p:cNvSpPr txBox="1"/>
          <p:nvPr/>
        </p:nvSpPr>
        <p:spPr>
          <a:xfrm>
            <a:off x="141202" y="5232497"/>
            <a:ext cx="130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en-IN" sz="14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6" name="TextBox 17425">
            <a:extLst>
              <a:ext uri="{FF2B5EF4-FFF2-40B4-BE49-F238E27FC236}">
                <a16:creationId xmlns:a16="http://schemas.microsoft.com/office/drawing/2014/main" id="{BD563B6B-27DE-4E25-6445-6D6D6085075A}"/>
              </a:ext>
            </a:extLst>
          </p:cNvPr>
          <p:cNvSpPr txBox="1"/>
          <p:nvPr/>
        </p:nvSpPr>
        <p:spPr>
          <a:xfrm>
            <a:off x="144701" y="5480664"/>
            <a:ext cx="1379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Google OR-Tools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7" name="Rectangle: Rounded Corners 17426">
            <a:extLst>
              <a:ext uri="{FF2B5EF4-FFF2-40B4-BE49-F238E27FC236}">
                <a16:creationId xmlns:a16="http://schemas.microsoft.com/office/drawing/2014/main" id="{9922A3D2-C506-2F99-E355-3DAC34F3EC98}"/>
              </a:ext>
            </a:extLst>
          </p:cNvPr>
          <p:cNvSpPr/>
          <p:nvPr/>
        </p:nvSpPr>
        <p:spPr>
          <a:xfrm>
            <a:off x="1580381" y="5515704"/>
            <a:ext cx="823608" cy="163032"/>
          </a:xfrm>
          <a:prstGeom prst="roundRect">
            <a:avLst/>
          </a:prstGeom>
          <a:solidFill>
            <a:srgbClr val="FFF2C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OR-Tools</a:t>
            </a:r>
            <a:endParaRPr lang="en-IN" sz="10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9" name="TextBox 17428">
            <a:extLst>
              <a:ext uri="{FF2B5EF4-FFF2-40B4-BE49-F238E27FC236}">
                <a16:creationId xmlns:a16="http://schemas.microsoft.com/office/drawing/2014/main" id="{65E52E00-B00E-B6B0-6EA4-0811581AA8CF}"/>
              </a:ext>
            </a:extLst>
          </p:cNvPr>
          <p:cNvSpPr txBox="1"/>
          <p:nvPr/>
        </p:nvSpPr>
        <p:spPr>
          <a:xfrm>
            <a:off x="168655" y="5751488"/>
            <a:ext cx="130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endParaRPr lang="en-IN" sz="14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31" name="Graphic 17430" descr="Credit card">
            <a:extLst>
              <a:ext uri="{FF2B5EF4-FFF2-40B4-BE49-F238E27FC236}">
                <a16:creationId xmlns:a16="http://schemas.microsoft.com/office/drawing/2014/main" id="{B6C3B917-BB7B-3B4B-1F35-8D8B285CA7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8134" y="5712193"/>
            <a:ext cx="438139" cy="438139"/>
          </a:xfrm>
          <a:prstGeom prst="rect">
            <a:avLst/>
          </a:prstGeom>
        </p:spPr>
      </p:pic>
      <p:sp>
        <p:nvSpPr>
          <p:cNvPr id="17432" name="TextBox 17431">
            <a:extLst>
              <a:ext uri="{FF2B5EF4-FFF2-40B4-BE49-F238E27FC236}">
                <a16:creationId xmlns:a16="http://schemas.microsoft.com/office/drawing/2014/main" id="{1BD832A1-78E4-5F66-7926-371BAA1C7AD9}"/>
              </a:ext>
            </a:extLst>
          </p:cNvPr>
          <p:cNvSpPr txBox="1"/>
          <p:nvPr/>
        </p:nvSpPr>
        <p:spPr>
          <a:xfrm>
            <a:off x="220563" y="5930765"/>
            <a:ext cx="1309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RazorpayAPI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33" name="Rectangle: Rounded Corners 17432">
            <a:extLst>
              <a:ext uri="{FF2B5EF4-FFF2-40B4-BE49-F238E27FC236}">
                <a16:creationId xmlns:a16="http://schemas.microsoft.com/office/drawing/2014/main" id="{FCDE16F0-0C4A-BB71-A93A-FFADD62DFFC7}"/>
              </a:ext>
            </a:extLst>
          </p:cNvPr>
          <p:cNvSpPr/>
          <p:nvPr/>
        </p:nvSpPr>
        <p:spPr>
          <a:xfrm>
            <a:off x="1283255" y="5978368"/>
            <a:ext cx="913966" cy="174047"/>
          </a:xfrm>
          <a:prstGeom prst="roundRect">
            <a:avLst/>
          </a:prstGeom>
          <a:solidFill>
            <a:srgbClr val="D6BBE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Razorpay</a:t>
            </a:r>
            <a:endParaRPr lang="en-IN" sz="1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44" name="Rectangle: Rounded Corners 17443">
            <a:extLst>
              <a:ext uri="{FF2B5EF4-FFF2-40B4-BE49-F238E27FC236}">
                <a16:creationId xmlns:a16="http://schemas.microsoft.com/office/drawing/2014/main" id="{F47D3C0F-EDF0-262D-F7ED-78F5854CE7BD}"/>
              </a:ext>
            </a:extLst>
          </p:cNvPr>
          <p:cNvSpPr/>
          <p:nvPr/>
        </p:nvSpPr>
        <p:spPr>
          <a:xfrm>
            <a:off x="305460" y="6207764"/>
            <a:ext cx="2870142" cy="337205"/>
          </a:xfrm>
          <a:prstGeom prst="roundRect">
            <a:avLst>
              <a:gd name="adj" fmla="val 50000"/>
            </a:avLst>
          </a:prstGeom>
          <a:solidFill>
            <a:srgbClr val="BAFD99"/>
          </a:solidFill>
          <a:ln>
            <a:solidFill>
              <a:srgbClr val="BAF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45" name="TextBox 17444">
            <a:extLst>
              <a:ext uri="{FF2B5EF4-FFF2-40B4-BE49-F238E27FC236}">
                <a16:creationId xmlns:a16="http://schemas.microsoft.com/office/drawing/2014/main" id="{104EBC6A-F0AC-AD41-585E-C971CC14E01C}"/>
              </a:ext>
            </a:extLst>
          </p:cNvPr>
          <p:cNvSpPr txBox="1"/>
          <p:nvPr/>
        </p:nvSpPr>
        <p:spPr>
          <a:xfrm>
            <a:off x="542127" y="6248334"/>
            <a:ext cx="24607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60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new hardware required.</a:t>
            </a:r>
            <a:endParaRPr lang="en-IN" sz="1300" b="1" dirty="0">
              <a:solidFill>
                <a:srgbClr val="0060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47" name="Graphic 17446" descr="Leaf">
            <a:extLst>
              <a:ext uri="{FF2B5EF4-FFF2-40B4-BE49-F238E27FC236}">
                <a16:creationId xmlns:a16="http://schemas.microsoft.com/office/drawing/2014/main" id="{38294F74-8868-7509-B8A8-0FD74B211B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03605" y="6061279"/>
            <a:ext cx="428042" cy="428042"/>
          </a:xfrm>
          <a:prstGeom prst="rect">
            <a:avLst/>
          </a:prstGeom>
        </p:spPr>
      </p:pic>
      <p:sp>
        <p:nvSpPr>
          <p:cNvPr id="17448" name="TextBox 17447">
            <a:extLst>
              <a:ext uri="{FF2B5EF4-FFF2-40B4-BE49-F238E27FC236}">
                <a16:creationId xmlns:a16="http://schemas.microsoft.com/office/drawing/2014/main" id="{63430A30-0A1E-18BA-F778-3DBB9157EB03}"/>
              </a:ext>
            </a:extLst>
          </p:cNvPr>
          <p:cNvSpPr txBox="1"/>
          <p:nvPr/>
        </p:nvSpPr>
        <p:spPr>
          <a:xfrm>
            <a:off x="3795819" y="543020"/>
            <a:ext cx="4600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 Technology that connects every step ”</a:t>
            </a:r>
            <a:endParaRPr lang="en-IN" b="1" i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B3ECA-0D2C-23F1-06AE-83CD49B25AB5}"/>
              </a:ext>
            </a:extLst>
          </p:cNvPr>
          <p:cNvSpPr txBox="1"/>
          <p:nvPr/>
        </p:nvSpPr>
        <p:spPr>
          <a:xfrm>
            <a:off x="3849861" y="906056"/>
            <a:ext cx="3927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Sources for AI Demanding Forecasting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412" name="Straight Connector 17411">
            <a:extLst>
              <a:ext uri="{FF2B5EF4-FFF2-40B4-BE49-F238E27FC236}">
                <a16:creationId xmlns:a16="http://schemas.microsoft.com/office/drawing/2014/main" id="{5ACC2EF8-24D3-D4DC-9F85-90A30745B6B8}"/>
              </a:ext>
            </a:extLst>
          </p:cNvPr>
          <p:cNvCxnSpPr>
            <a:cxnSpLocks/>
          </p:cNvCxnSpPr>
          <p:nvPr/>
        </p:nvCxnSpPr>
        <p:spPr>
          <a:xfrm>
            <a:off x="193295" y="3104831"/>
            <a:ext cx="3071915" cy="16136"/>
          </a:xfrm>
          <a:prstGeom prst="line">
            <a:avLst/>
          </a:prstGeom>
          <a:ln w="28575" cap="flat" cmpd="sng" algn="ctr">
            <a:solidFill>
              <a:srgbClr val="BAFD9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13" name="Straight Connector 17412">
            <a:extLst>
              <a:ext uri="{FF2B5EF4-FFF2-40B4-BE49-F238E27FC236}">
                <a16:creationId xmlns:a16="http://schemas.microsoft.com/office/drawing/2014/main" id="{8B3E3300-2896-13D2-37BA-AAF6FD1D0028}"/>
              </a:ext>
            </a:extLst>
          </p:cNvPr>
          <p:cNvCxnSpPr>
            <a:cxnSpLocks/>
          </p:cNvCxnSpPr>
          <p:nvPr/>
        </p:nvCxnSpPr>
        <p:spPr>
          <a:xfrm>
            <a:off x="167841" y="3840406"/>
            <a:ext cx="3071915" cy="16136"/>
          </a:xfrm>
          <a:prstGeom prst="line">
            <a:avLst/>
          </a:prstGeom>
          <a:ln w="28575" cap="flat" cmpd="sng" algn="ctr">
            <a:solidFill>
              <a:srgbClr val="BAFD9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14" name="Straight Connector 17413">
            <a:extLst>
              <a:ext uri="{FF2B5EF4-FFF2-40B4-BE49-F238E27FC236}">
                <a16:creationId xmlns:a16="http://schemas.microsoft.com/office/drawing/2014/main" id="{1F0A2F08-4DAE-107B-F6A0-4388944A93AF}"/>
              </a:ext>
            </a:extLst>
          </p:cNvPr>
          <p:cNvCxnSpPr>
            <a:cxnSpLocks/>
          </p:cNvCxnSpPr>
          <p:nvPr/>
        </p:nvCxnSpPr>
        <p:spPr>
          <a:xfrm>
            <a:off x="195150" y="4519409"/>
            <a:ext cx="3071915" cy="16136"/>
          </a:xfrm>
          <a:prstGeom prst="line">
            <a:avLst/>
          </a:prstGeom>
          <a:ln w="28575" cap="flat" cmpd="sng" algn="ctr">
            <a:solidFill>
              <a:srgbClr val="BAFD9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22" name="Straight Connector 17421">
            <a:extLst>
              <a:ext uri="{FF2B5EF4-FFF2-40B4-BE49-F238E27FC236}">
                <a16:creationId xmlns:a16="http://schemas.microsoft.com/office/drawing/2014/main" id="{A136EC78-8185-09D1-71E7-5E3FF471E265}"/>
              </a:ext>
            </a:extLst>
          </p:cNvPr>
          <p:cNvCxnSpPr>
            <a:cxnSpLocks/>
          </p:cNvCxnSpPr>
          <p:nvPr/>
        </p:nvCxnSpPr>
        <p:spPr>
          <a:xfrm>
            <a:off x="189752" y="5240638"/>
            <a:ext cx="3071915" cy="16136"/>
          </a:xfrm>
          <a:prstGeom prst="line">
            <a:avLst/>
          </a:prstGeom>
          <a:ln w="28575" cap="flat" cmpd="sng" algn="ctr">
            <a:solidFill>
              <a:srgbClr val="BAFD9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24" name="Straight Connector 17423">
            <a:extLst>
              <a:ext uri="{FF2B5EF4-FFF2-40B4-BE49-F238E27FC236}">
                <a16:creationId xmlns:a16="http://schemas.microsoft.com/office/drawing/2014/main" id="{CCBC3AE0-3876-AB5F-0C5F-EE5CF50A15A1}"/>
              </a:ext>
            </a:extLst>
          </p:cNvPr>
          <p:cNvCxnSpPr>
            <a:cxnSpLocks/>
          </p:cNvCxnSpPr>
          <p:nvPr/>
        </p:nvCxnSpPr>
        <p:spPr>
          <a:xfrm>
            <a:off x="220563" y="5747598"/>
            <a:ext cx="3071915" cy="16136"/>
          </a:xfrm>
          <a:prstGeom prst="line">
            <a:avLst/>
          </a:prstGeom>
          <a:ln w="28575" cap="flat" cmpd="sng" algn="ctr">
            <a:solidFill>
              <a:srgbClr val="BAFD9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430" name="Picture 17429">
            <a:extLst>
              <a:ext uri="{FF2B5EF4-FFF2-40B4-BE49-F238E27FC236}">
                <a16:creationId xmlns:a16="http://schemas.microsoft.com/office/drawing/2014/main" id="{2CFACB77-6FDC-6570-B53F-64051D8A46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5644" y1="62401" x2="45644" y2="62401"/>
                        <a14:foregroundMark x1="30039" y1="58443" x2="37841" y2="68338"/>
                        <a14:foregroundMark x1="28088" y1="52507" x2="63199" y2="40633"/>
                        <a14:foregroundMark x1="26138" y1="48549" x2="31990" y2="56464"/>
                        <a14:foregroundMark x1="31990" y1="56464" x2="45644" y2="62401"/>
                        <a14:foregroundMark x1="35891" y1="48549" x2="51495" y2="76253"/>
                        <a14:foregroundMark x1="41743" y1="50528" x2="55397" y2="64380"/>
                        <a14:foregroundMark x1="53446" y1="48549" x2="47594" y2="66359"/>
                        <a14:foregroundMark x1="68921" y1="40633" x2="49545" y2="624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388" y="6270789"/>
            <a:ext cx="310243" cy="305805"/>
          </a:xfrm>
          <a:prstGeom prst="rect">
            <a:avLst/>
          </a:prstGeom>
          <a:noFill/>
        </p:spPr>
      </p:pic>
      <p:pic>
        <p:nvPicPr>
          <p:cNvPr id="17438" name="Picture 17437">
            <a:extLst>
              <a:ext uri="{FF2B5EF4-FFF2-40B4-BE49-F238E27FC236}">
                <a16:creationId xmlns:a16="http://schemas.microsoft.com/office/drawing/2014/main" id="{E532F7A6-4036-6BA1-8073-C4819E7E675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70904" y="780073"/>
            <a:ext cx="8127537" cy="4946265"/>
          </a:xfrm>
          <a:prstGeom prst="rect">
            <a:avLst/>
          </a:prstGeom>
        </p:spPr>
      </p:pic>
      <p:sp>
        <p:nvSpPr>
          <p:cNvPr id="17439" name="Flowchart: Terminator 17438">
            <a:extLst>
              <a:ext uri="{FF2B5EF4-FFF2-40B4-BE49-F238E27FC236}">
                <a16:creationId xmlns:a16="http://schemas.microsoft.com/office/drawing/2014/main" id="{5BD036B3-277C-D7D6-1CB4-662F67FFCEB5}"/>
              </a:ext>
            </a:extLst>
          </p:cNvPr>
          <p:cNvSpPr/>
          <p:nvPr/>
        </p:nvSpPr>
        <p:spPr>
          <a:xfrm>
            <a:off x="187569" y="906509"/>
            <a:ext cx="3052187" cy="329415"/>
          </a:xfrm>
          <a:prstGeom prst="flowChartTerminator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40" name="TextBox 17439">
            <a:extLst>
              <a:ext uri="{FF2B5EF4-FFF2-40B4-BE49-F238E27FC236}">
                <a16:creationId xmlns:a16="http://schemas.microsoft.com/office/drawing/2014/main" id="{A43B3C02-01B9-D2F8-0231-4104B83E7522}"/>
              </a:ext>
            </a:extLst>
          </p:cNvPr>
          <p:cNvSpPr txBox="1"/>
          <p:nvPr/>
        </p:nvSpPr>
        <p:spPr>
          <a:xfrm>
            <a:off x="914436" y="893061"/>
            <a:ext cx="166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 Stack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41" name="Picture 17440">
            <a:extLst>
              <a:ext uri="{FF2B5EF4-FFF2-40B4-BE49-F238E27FC236}">
                <a16:creationId xmlns:a16="http://schemas.microsoft.com/office/drawing/2014/main" id="{F2BDF740-EB61-231F-D79F-27D019574B3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>
                        <a14:foregroundMark x1="58398" y1="38281" x2="58398" y2="38281"/>
                        <a14:foregroundMark x1="52344" y1="60352" x2="52344" y2="60352"/>
                        <a14:foregroundMark x1="55078" y1="79297" x2="55078" y2="79297"/>
                        <a14:backgroundMark x1="67969" y1="64648" x2="67969" y2="646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0220" y="885093"/>
            <a:ext cx="404183" cy="382388"/>
          </a:xfrm>
          <a:prstGeom prst="rect">
            <a:avLst/>
          </a:prstGeom>
        </p:spPr>
      </p:pic>
      <p:sp>
        <p:nvSpPr>
          <p:cNvPr id="17442" name="Rectangle: Rounded Corners 17441">
            <a:extLst>
              <a:ext uri="{FF2B5EF4-FFF2-40B4-BE49-F238E27FC236}">
                <a16:creationId xmlns:a16="http://schemas.microsoft.com/office/drawing/2014/main" id="{BF591FD1-1A01-7BF9-04AE-97D8DFE12EAC}"/>
              </a:ext>
            </a:extLst>
          </p:cNvPr>
          <p:cNvSpPr/>
          <p:nvPr/>
        </p:nvSpPr>
        <p:spPr>
          <a:xfrm>
            <a:off x="8954039" y="5822279"/>
            <a:ext cx="3093259" cy="734448"/>
          </a:xfrm>
          <a:prstGeom prst="roundRect">
            <a:avLst>
              <a:gd name="adj" fmla="val 4217"/>
            </a:avLst>
          </a:prstGeom>
          <a:noFill/>
          <a:ln>
            <a:solidFill>
              <a:schemeClr val="tx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Prototype link &amp; video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6528AB-9F3D-FE7E-EDDA-7E6B758AAB1D}"/>
              </a:ext>
            </a:extLst>
          </p:cNvPr>
          <p:cNvSpPr/>
          <p:nvPr/>
        </p:nvSpPr>
        <p:spPr>
          <a:xfrm>
            <a:off x="8973564" y="995491"/>
            <a:ext cx="3100631" cy="2602572"/>
          </a:xfrm>
          <a:prstGeom prst="roundRect">
            <a:avLst>
              <a:gd name="adj" fmla="val 2805"/>
            </a:avLst>
          </a:prstGeom>
          <a:gradFill>
            <a:gsLst>
              <a:gs pos="88000">
                <a:srgbClr val="9FE6FF"/>
              </a:gs>
              <a:gs pos="84000">
                <a:srgbClr val="C5F5FF"/>
              </a:gs>
            </a:gsLst>
          </a:gradFill>
          <a:ln w="19050">
            <a:solidFill>
              <a:srgbClr val="0070C0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2D720E-2B9E-447E-C4E7-7011F3E4E740}"/>
              </a:ext>
            </a:extLst>
          </p:cNvPr>
          <p:cNvSpPr txBox="1"/>
          <p:nvPr/>
        </p:nvSpPr>
        <p:spPr>
          <a:xfrm>
            <a:off x="9480898" y="942605"/>
            <a:ext cx="1750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Flow</a:t>
            </a:r>
            <a:endParaRPr lang="en-IN" sz="20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53A3A6-684F-4D60-2F72-3A833B4863ED}"/>
              </a:ext>
            </a:extLst>
          </p:cNvPr>
          <p:cNvCxnSpPr>
            <a:cxnSpLocks/>
          </p:cNvCxnSpPr>
          <p:nvPr/>
        </p:nvCxnSpPr>
        <p:spPr>
          <a:xfrm>
            <a:off x="9193681" y="1599664"/>
            <a:ext cx="0" cy="1746445"/>
          </a:xfrm>
          <a:prstGeom prst="line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C9AA8D17-08F0-78B9-0122-E13DFDF72862}"/>
              </a:ext>
            </a:extLst>
          </p:cNvPr>
          <p:cNvSpPr/>
          <p:nvPr/>
        </p:nvSpPr>
        <p:spPr>
          <a:xfrm>
            <a:off x="9023245" y="1346539"/>
            <a:ext cx="324819" cy="253125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752704-B129-7923-D29E-D6EC31F9AD9A}"/>
              </a:ext>
            </a:extLst>
          </p:cNvPr>
          <p:cNvSpPr txBox="1"/>
          <p:nvPr/>
        </p:nvSpPr>
        <p:spPr>
          <a:xfrm>
            <a:off x="9355151" y="1348830"/>
            <a:ext cx="2262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Farmers list their produce.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EFAF3A-BE4B-1F33-BE1D-76D0D62CB0F5}"/>
              </a:ext>
            </a:extLst>
          </p:cNvPr>
          <p:cNvSpPr txBox="1"/>
          <p:nvPr/>
        </p:nvSpPr>
        <p:spPr>
          <a:xfrm>
            <a:off x="9369029" y="1708064"/>
            <a:ext cx="1875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AI forecasts demand.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DF5EA1-9A6B-9C34-A09F-B967BC4F6802}"/>
              </a:ext>
            </a:extLst>
          </p:cNvPr>
          <p:cNvSpPr txBox="1"/>
          <p:nvPr/>
        </p:nvSpPr>
        <p:spPr>
          <a:xfrm>
            <a:off x="9377554" y="2044799"/>
            <a:ext cx="24432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Smart matching with buyers.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F4B1C761-693B-9ECC-6948-D64EA5C01F0B}"/>
              </a:ext>
            </a:extLst>
          </p:cNvPr>
          <p:cNvSpPr/>
          <p:nvPr/>
        </p:nvSpPr>
        <p:spPr>
          <a:xfrm>
            <a:off x="9034352" y="1701043"/>
            <a:ext cx="324819" cy="253125"/>
          </a:xfrm>
          <a:prstGeom prst="flowChartConnector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84BF8BEF-3B74-D6A0-EE68-2165C1AFA9DD}"/>
              </a:ext>
            </a:extLst>
          </p:cNvPr>
          <p:cNvSpPr/>
          <p:nvPr/>
        </p:nvSpPr>
        <p:spPr>
          <a:xfrm>
            <a:off x="9044209" y="2057021"/>
            <a:ext cx="324819" cy="253125"/>
          </a:xfrm>
          <a:prstGeom prst="flowChartConnector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7DEB306D-FBB9-4295-F85C-DC03EE2B784B}"/>
              </a:ext>
            </a:extLst>
          </p:cNvPr>
          <p:cNvSpPr/>
          <p:nvPr/>
        </p:nvSpPr>
        <p:spPr>
          <a:xfrm>
            <a:off x="9044210" y="2426474"/>
            <a:ext cx="324819" cy="253125"/>
          </a:xfrm>
          <a:prstGeom prst="flowChartConnector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4EE50E-8D67-2E88-E056-BEA5BDC21360}"/>
              </a:ext>
            </a:extLst>
          </p:cNvPr>
          <p:cNvSpPr txBox="1"/>
          <p:nvPr/>
        </p:nvSpPr>
        <p:spPr>
          <a:xfrm>
            <a:off x="9364178" y="2362166"/>
            <a:ext cx="2649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Buyers orders &amp; pays securely.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9F236DD6-9217-1EFD-4BFF-5DF069F23902}"/>
              </a:ext>
            </a:extLst>
          </p:cNvPr>
          <p:cNvSpPr/>
          <p:nvPr/>
        </p:nvSpPr>
        <p:spPr>
          <a:xfrm>
            <a:off x="9031271" y="2788674"/>
            <a:ext cx="324819" cy="253125"/>
          </a:xfrm>
          <a:prstGeom prst="flowChartConnector">
            <a:avLst/>
          </a:prstGeom>
          <a:solidFill>
            <a:srgbClr val="9C5BC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CE18D7-A137-9E8B-2BA7-584D7D26A20A}"/>
              </a:ext>
            </a:extLst>
          </p:cNvPr>
          <p:cNvSpPr txBox="1"/>
          <p:nvPr/>
        </p:nvSpPr>
        <p:spPr>
          <a:xfrm>
            <a:off x="9356090" y="2755883"/>
            <a:ext cx="25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Logistics pickup and delivery.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AE92B338-2EDD-B74F-7F0A-FEDDAE4EE8A7}"/>
              </a:ext>
            </a:extLst>
          </p:cNvPr>
          <p:cNvSpPr/>
          <p:nvPr/>
        </p:nvSpPr>
        <p:spPr>
          <a:xfrm>
            <a:off x="9034352" y="3123615"/>
            <a:ext cx="324819" cy="253125"/>
          </a:xfrm>
          <a:prstGeom prst="flowChartConnector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08D4DF-63B9-0570-7E05-E8D1593F292C}"/>
              </a:ext>
            </a:extLst>
          </p:cNvPr>
          <p:cNvSpPr txBox="1"/>
          <p:nvPr/>
        </p:nvSpPr>
        <p:spPr>
          <a:xfrm>
            <a:off x="9343153" y="3075890"/>
            <a:ext cx="273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Quality confirmed &amp; payment released.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Graphic 51" descr="Single gear">
            <a:extLst>
              <a:ext uri="{FF2B5EF4-FFF2-40B4-BE49-F238E27FC236}">
                <a16:creationId xmlns:a16="http://schemas.microsoft.com/office/drawing/2014/main" id="{A8552C28-0972-9994-2735-912B094CEF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72603" y="954647"/>
            <a:ext cx="341100" cy="341100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0F63801-2CB9-8D06-24D4-426553903B3D}"/>
              </a:ext>
            </a:extLst>
          </p:cNvPr>
          <p:cNvSpPr/>
          <p:nvPr/>
        </p:nvSpPr>
        <p:spPr>
          <a:xfrm>
            <a:off x="8973564" y="3739830"/>
            <a:ext cx="3100631" cy="1973664"/>
          </a:xfrm>
          <a:prstGeom prst="roundRect">
            <a:avLst>
              <a:gd name="adj" fmla="val 2805"/>
            </a:avLst>
          </a:prstGeom>
          <a:gradFill>
            <a:gsLst>
              <a:gs pos="88000">
                <a:srgbClr val="C9E7A7"/>
              </a:gs>
              <a:gs pos="77000">
                <a:srgbClr val="DCF0C6"/>
              </a:gs>
            </a:gsLst>
          </a:gradFill>
          <a:ln w="19050">
            <a:solidFill>
              <a:srgbClr val="00602B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7B3A64-A521-060E-680D-2F1CB10F5219}"/>
              </a:ext>
            </a:extLst>
          </p:cNvPr>
          <p:cNvSpPr txBox="1"/>
          <p:nvPr/>
        </p:nvSpPr>
        <p:spPr>
          <a:xfrm>
            <a:off x="9369085" y="3674269"/>
            <a:ext cx="1795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60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  <a:endParaRPr lang="en-IN" sz="2000" b="1" dirty="0">
              <a:solidFill>
                <a:srgbClr val="0060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11" name="Graphic 17410" descr="Lightbulb and gear">
            <a:extLst>
              <a:ext uri="{FF2B5EF4-FFF2-40B4-BE49-F238E27FC236}">
                <a16:creationId xmlns:a16="http://schemas.microsoft.com/office/drawing/2014/main" id="{A1AD6A7C-0906-1ECF-74A9-FAD5A86CF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34352" y="3718179"/>
            <a:ext cx="415168" cy="415168"/>
          </a:xfrm>
          <a:prstGeom prst="rect">
            <a:avLst/>
          </a:prstGeom>
        </p:spPr>
      </p:pic>
      <p:sp>
        <p:nvSpPr>
          <p:cNvPr id="17421" name="TextBox 17420">
            <a:extLst>
              <a:ext uri="{FF2B5EF4-FFF2-40B4-BE49-F238E27FC236}">
                <a16:creationId xmlns:a16="http://schemas.microsoft.com/office/drawing/2014/main" id="{4297791D-B372-6A8E-D426-20F533C6102A}"/>
              </a:ext>
            </a:extLst>
          </p:cNvPr>
          <p:cNvSpPr txBox="1"/>
          <p:nvPr/>
        </p:nvSpPr>
        <p:spPr>
          <a:xfrm>
            <a:off x="9113077" y="4096240"/>
            <a:ext cx="2846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Real time market access &amp; live pricing.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8" name="TextBox 17427">
            <a:extLst>
              <a:ext uri="{FF2B5EF4-FFF2-40B4-BE49-F238E27FC236}">
                <a16:creationId xmlns:a16="http://schemas.microsoft.com/office/drawing/2014/main" id="{B6B7BB0A-AE75-FEC0-1797-EB9201B9C524}"/>
              </a:ext>
            </a:extLst>
          </p:cNvPr>
          <p:cNvSpPr txBox="1"/>
          <p:nvPr/>
        </p:nvSpPr>
        <p:spPr>
          <a:xfrm>
            <a:off x="9093654" y="4517524"/>
            <a:ext cx="2571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AI-based demand forecasting.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34" name="TextBox 17433">
            <a:extLst>
              <a:ext uri="{FF2B5EF4-FFF2-40B4-BE49-F238E27FC236}">
                <a16:creationId xmlns:a16="http://schemas.microsoft.com/office/drawing/2014/main" id="{85725869-E016-29D3-4563-712FEA1944A9}"/>
              </a:ext>
            </a:extLst>
          </p:cNvPr>
          <p:cNvSpPr txBox="1"/>
          <p:nvPr/>
        </p:nvSpPr>
        <p:spPr>
          <a:xfrm>
            <a:off x="9082224" y="4721363"/>
            <a:ext cx="3098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Smart matching of farmers &amp; buyers.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35" name="TextBox 17434">
            <a:extLst>
              <a:ext uri="{FF2B5EF4-FFF2-40B4-BE49-F238E27FC236}">
                <a16:creationId xmlns:a16="http://schemas.microsoft.com/office/drawing/2014/main" id="{F642FFEA-3956-13F1-416B-58758B19C063}"/>
              </a:ext>
            </a:extLst>
          </p:cNvPr>
          <p:cNvSpPr txBox="1"/>
          <p:nvPr/>
        </p:nvSpPr>
        <p:spPr>
          <a:xfrm>
            <a:off x="9107340" y="4952138"/>
            <a:ext cx="3035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Route optimization for efficient logistics.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36" name="TextBox 17435">
            <a:extLst>
              <a:ext uri="{FF2B5EF4-FFF2-40B4-BE49-F238E27FC236}">
                <a16:creationId xmlns:a16="http://schemas.microsoft.com/office/drawing/2014/main" id="{F62B7F14-27F4-6E61-A2F7-15314090AA8F}"/>
              </a:ext>
            </a:extLst>
          </p:cNvPr>
          <p:cNvSpPr txBox="1"/>
          <p:nvPr/>
        </p:nvSpPr>
        <p:spPr>
          <a:xfrm>
            <a:off x="9113077" y="5405717"/>
            <a:ext cx="2105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Secure digital platforms.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37" name="Picture 17436">
            <a:extLst>
              <a:ext uri="{FF2B5EF4-FFF2-40B4-BE49-F238E27FC236}">
                <a16:creationId xmlns:a16="http://schemas.microsoft.com/office/drawing/2014/main" id="{D4BADD5D-D10F-0292-D837-2D07A2765B1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5644" y1="62401" x2="45644" y2="62401"/>
                        <a14:foregroundMark x1="30039" y1="58443" x2="37841" y2="68338"/>
                        <a14:foregroundMark x1="28088" y1="52507" x2="63199" y2="40633"/>
                        <a14:foregroundMark x1="26138" y1="48549" x2="31990" y2="56464"/>
                        <a14:foregroundMark x1="31990" y1="56464" x2="45644" y2="62401"/>
                        <a14:foregroundMark x1="35891" y1="48549" x2="51495" y2="76253"/>
                        <a14:foregroundMark x1="41743" y1="50528" x2="55397" y2="64380"/>
                        <a14:foregroundMark x1="53446" y1="48549" x2="47594" y2="66359"/>
                        <a14:foregroundMark x1="68921" y1="40633" x2="49545" y2="624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3564" y="4174973"/>
            <a:ext cx="178967" cy="176407"/>
          </a:xfrm>
          <a:prstGeom prst="rect">
            <a:avLst/>
          </a:prstGeom>
          <a:noFill/>
        </p:spPr>
      </p:pic>
      <p:pic>
        <p:nvPicPr>
          <p:cNvPr id="17449" name="Picture 17448">
            <a:extLst>
              <a:ext uri="{FF2B5EF4-FFF2-40B4-BE49-F238E27FC236}">
                <a16:creationId xmlns:a16="http://schemas.microsoft.com/office/drawing/2014/main" id="{DE662DB2-01A6-F403-6D12-53FA6FA65D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5644" y1="62401" x2="45644" y2="62401"/>
                        <a14:foregroundMark x1="30039" y1="58443" x2="37841" y2="68338"/>
                        <a14:foregroundMark x1="28088" y1="52507" x2="63199" y2="40633"/>
                        <a14:foregroundMark x1="26138" y1="48549" x2="31990" y2="56464"/>
                        <a14:foregroundMark x1="31990" y1="56464" x2="45644" y2="62401"/>
                        <a14:foregroundMark x1="35891" y1="48549" x2="51495" y2="76253"/>
                        <a14:foregroundMark x1="41743" y1="50528" x2="55397" y2="64380"/>
                        <a14:foregroundMark x1="53446" y1="48549" x2="47594" y2="66359"/>
                        <a14:foregroundMark x1="68921" y1="40633" x2="49545" y2="624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1194" y="4573997"/>
            <a:ext cx="178967" cy="176407"/>
          </a:xfrm>
          <a:prstGeom prst="rect">
            <a:avLst/>
          </a:prstGeom>
          <a:noFill/>
        </p:spPr>
      </p:pic>
      <p:pic>
        <p:nvPicPr>
          <p:cNvPr id="17450" name="Picture 17449">
            <a:extLst>
              <a:ext uri="{FF2B5EF4-FFF2-40B4-BE49-F238E27FC236}">
                <a16:creationId xmlns:a16="http://schemas.microsoft.com/office/drawing/2014/main" id="{61A4C3A6-578E-7262-9FC3-E15DAB3AB91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5644" y1="62401" x2="45644" y2="62401"/>
                        <a14:foregroundMark x1="30039" y1="58443" x2="37841" y2="68338"/>
                        <a14:foregroundMark x1="28088" y1="52507" x2="63199" y2="40633"/>
                        <a14:foregroundMark x1="26138" y1="48549" x2="31990" y2="56464"/>
                        <a14:foregroundMark x1="31990" y1="56464" x2="45644" y2="62401"/>
                        <a14:foregroundMark x1="35891" y1="48549" x2="51495" y2="76253"/>
                        <a14:foregroundMark x1="41743" y1="50528" x2="55397" y2="64380"/>
                        <a14:foregroundMark x1="53446" y1="48549" x2="47594" y2="66359"/>
                        <a14:foregroundMark x1="68921" y1="40633" x2="49545" y2="624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4462" y="4784911"/>
            <a:ext cx="178967" cy="176407"/>
          </a:xfrm>
          <a:prstGeom prst="rect">
            <a:avLst/>
          </a:prstGeom>
          <a:noFill/>
        </p:spPr>
      </p:pic>
      <p:pic>
        <p:nvPicPr>
          <p:cNvPr id="17454" name="Picture 17453">
            <a:extLst>
              <a:ext uri="{FF2B5EF4-FFF2-40B4-BE49-F238E27FC236}">
                <a16:creationId xmlns:a16="http://schemas.microsoft.com/office/drawing/2014/main" id="{388697B4-2037-6DBE-5D37-AB1757FB5D0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5644" y1="62401" x2="45644" y2="62401"/>
                        <a14:foregroundMark x1="30039" y1="58443" x2="37841" y2="68338"/>
                        <a14:foregroundMark x1="28088" y1="52507" x2="63199" y2="40633"/>
                        <a14:foregroundMark x1="26138" y1="48549" x2="31990" y2="56464"/>
                        <a14:foregroundMark x1="31990" y1="56464" x2="45644" y2="62401"/>
                        <a14:foregroundMark x1="35891" y1="48549" x2="51495" y2="76253"/>
                        <a14:foregroundMark x1="41743" y1="50528" x2="55397" y2="64380"/>
                        <a14:foregroundMark x1="53446" y1="48549" x2="47594" y2="66359"/>
                        <a14:foregroundMark x1="68921" y1="40633" x2="49545" y2="624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92740" y="5056090"/>
            <a:ext cx="178967" cy="176407"/>
          </a:xfrm>
          <a:prstGeom prst="rect">
            <a:avLst/>
          </a:prstGeom>
          <a:noFill/>
        </p:spPr>
      </p:pic>
      <p:pic>
        <p:nvPicPr>
          <p:cNvPr id="17455" name="Picture 17454">
            <a:extLst>
              <a:ext uri="{FF2B5EF4-FFF2-40B4-BE49-F238E27FC236}">
                <a16:creationId xmlns:a16="http://schemas.microsoft.com/office/drawing/2014/main" id="{E908FA2E-582F-D9BE-78CB-CDCDBB9C3C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5644" y1="62401" x2="45644" y2="62401"/>
                        <a14:foregroundMark x1="30039" y1="58443" x2="37841" y2="68338"/>
                        <a14:foregroundMark x1="28088" y1="52507" x2="63199" y2="40633"/>
                        <a14:foregroundMark x1="26138" y1="48549" x2="31990" y2="56464"/>
                        <a14:foregroundMark x1="31990" y1="56464" x2="45644" y2="62401"/>
                        <a14:foregroundMark x1="35891" y1="48549" x2="51495" y2="76253"/>
                        <a14:foregroundMark x1="41743" y1="50528" x2="55397" y2="64380"/>
                        <a14:foregroundMark x1="53446" y1="48549" x2="47594" y2="66359"/>
                        <a14:foregroundMark x1="68921" y1="40633" x2="49545" y2="624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90739" y="5467074"/>
            <a:ext cx="178967" cy="176407"/>
          </a:xfrm>
          <a:prstGeom prst="rect">
            <a:avLst/>
          </a:prstGeom>
          <a:noFill/>
        </p:spPr>
      </p:pic>
      <p:sp>
        <p:nvSpPr>
          <p:cNvPr id="17456" name="Rectangle: Rounded Corners 17455">
            <a:extLst>
              <a:ext uri="{FF2B5EF4-FFF2-40B4-BE49-F238E27FC236}">
                <a16:creationId xmlns:a16="http://schemas.microsoft.com/office/drawing/2014/main" id="{F8F20093-FF5C-8781-674E-25C34EDFEA58}"/>
              </a:ext>
            </a:extLst>
          </p:cNvPr>
          <p:cNvSpPr/>
          <p:nvPr/>
        </p:nvSpPr>
        <p:spPr>
          <a:xfrm>
            <a:off x="3391434" y="5712193"/>
            <a:ext cx="5451014" cy="844534"/>
          </a:xfrm>
          <a:prstGeom prst="roundRect">
            <a:avLst>
              <a:gd name="adj" fmla="val 17909"/>
            </a:avLst>
          </a:prstGeom>
          <a:gradFill>
            <a:gsLst>
              <a:gs pos="67000">
                <a:srgbClr val="E4D2F2"/>
              </a:gs>
              <a:gs pos="77000">
                <a:srgbClr val="DAC2EC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57" name="TextBox 17456">
            <a:extLst>
              <a:ext uri="{FF2B5EF4-FFF2-40B4-BE49-F238E27FC236}">
                <a16:creationId xmlns:a16="http://schemas.microsoft.com/office/drawing/2014/main" id="{656FC325-EE25-B98B-C505-2FFD2EDC6914}"/>
              </a:ext>
            </a:extLst>
          </p:cNvPr>
          <p:cNvSpPr txBox="1"/>
          <p:nvPr/>
        </p:nvSpPr>
        <p:spPr>
          <a:xfrm>
            <a:off x="4790706" y="5654209"/>
            <a:ext cx="3598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&amp; Reliability</a:t>
            </a:r>
            <a:endParaRPr lang="en-IN"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58" name="Picture 17457">
            <a:extLst>
              <a:ext uri="{FF2B5EF4-FFF2-40B4-BE49-F238E27FC236}">
                <a16:creationId xmlns:a16="http://schemas.microsoft.com/office/drawing/2014/main" id="{2C1AA16E-6584-0198-635C-F128441643C9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prstClr val="black"/>
              <a:srgbClr val="8064A2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>
                        <a14:foregroundMark x1="47619" y1="41860" x2="47619" y2="41860"/>
                        <a14:foregroundMark x1="42857" y1="37209" x2="42857" y2="37209"/>
                        <a14:foregroundMark x1="42857" y1="37209" x2="42857" y2="37209"/>
                        <a14:foregroundMark x1="47619" y1="41860" x2="50000" y2="44186"/>
                        <a14:foregroundMark x1="42857" y1="37209" x2="47619" y2="41860"/>
                        <a14:foregroundMark x1="57143" y1="58140" x2="57143" y2="58140"/>
                        <a14:foregroundMark x1="50000" y1="69767" x2="50000" y2="69767"/>
                        <a14:foregroundMark x1="34761" y1="41860" x2="26190" y2="37209"/>
                        <a14:foregroundMark x1="47619" y1="48837" x2="34761" y2="41860"/>
                        <a14:foregroundMark x1="47619" y1="30233" x2="66667" y2="41860"/>
                        <a14:backgroundMark x1="66667" y1="41860" x2="66667" y2="41860"/>
                        <a14:backgroundMark x1="64286" y1="41860" x2="64286" y2="4186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3245" y="5713494"/>
            <a:ext cx="312945" cy="317243"/>
          </a:xfrm>
          <a:prstGeom prst="rect">
            <a:avLst/>
          </a:prstGeom>
          <a:noFill/>
        </p:spPr>
      </p:pic>
      <p:pic>
        <p:nvPicPr>
          <p:cNvPr id="17459" name="Graphic 17458" descr="Lock">
            <a:extLst>
              <a:ext uri="{FF2B5EF4-FFF2-40B4-BE49-F238E27FC236}">
                <a16:creationId xmlns:a16="http://schemas.microsoft.com/office/drawing/2014/main" id="{067D7FBF-E884-62D4-C74B-5D313DE62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99743" y="5978369"/>
            <a:ext cx="410388" cy="292420"/>
          </a:xfrm>
          <a:prstGeom prst="rect">
            <a:avLst/>
          </a:prstGeom>
        </p:spPr>
      </p:pic>
      <p:sp>
        <p:nvSpPr>
          <p:cNvPr id="17460" name="TextBox 17459">
            <a:extLst>
              <a:ext uri="{FF2B5EF4-FFF2-40B4-BE49-F238E27FC236}">
                <a16:creationId xmlns:a16="http://schemas.microsoft.com/office/drawing/2014/main" id="{4BEE473A-E9FC-03E2-D412-F43A221FB615}"/>
              </a:ext>
            </a:extLst>
          </p:cNvPr>
          <p:cNvSpPr txBox="1"/>
          <p:nvPr/>
        </p:nvSpPr>
        <p:spPr>
          <a:xfrm>
            <a:off x="3562669" y="6038590"/>
            <a:ext cx="11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Secure Transactions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462" name="Straight Connector 17461">
            <a:extLst>
              <a:ext uri="{FF2B5EF4-FFF2-40B4-BE49-F238E27FC236}">
                <a16:creationId xmlns:a16="http://schemas.microsoft.com/office/drawing/2014/main" id="{E1472A9F-8241-EECF-DD75-A129CF6E3D82}"/>
              </a:ext>
            </a:extLst>
          </p:cNvPr>
          <p:cNvCxnSpPr/>
          <p:nvPr/>
        </p:nvCxnSpPr>
        <p:spPr>
          <a:xfrm>
            <a:off x="4626292" y="6079036"/>
            <a:ext cx="0" cy="425522"/>
          </a:xfrm>
          <a:prstGeom prst="line">
            <a:avLst/>
          </a:prstGeom>
          <a:ln w="12700">
            <a:solidFill>
              <a:srgbClr val="D6B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63" name="Picture 17462">
            <a:extLst>
              <a:ext uri="{FF2B5EF4-FFF2-40B4-BE49-F238E27FC236}">
                <a16:creationId xmlns:a16="http://schemas.microsoft.com/office/drawing/2014/main" id="{90F16CC2-D967-C1B3-584C-CED4C97E6F42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prstClr val="black"/>
              <a:srgbClr val="8064A2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>
                        <a14:foregroundMark x1="47619" y1="41860" x2="47619" y2="41860"/>
                        <a14:foregroundMark x1="42857" y1="37209" x2="42857" y2="37209"/>
                        <a14:foregroundMark x1="42857" y1="37209" x2="42857" y2="37209"/>
                        <a14:foregroundMark x1="47619" y1="41860" x2="50000" y2="44186"/>
                        <a14:foregroundMark x1="42857" y1="37209" x2="47619" y2="41860"/>
                        <a14:foregroundMark x1="57143" y1="58140" x2="57143" y2="58140"/>
                        <a14:foregroundMark x1="50000" y1="69767" x2="50000" y2="69767"/>
                        <a14:foregroundMark x1="34761" y1="41860" x2="26190" y2="37209"/>
                        <a14:foregroundMark x1="47619" y1="48837" x2="34761" y2="41860"/>
                        <a14:foregroundMark x1="47619" y1="30233" x2="66667" y2="41860"/>
                        <a14:backgroundMark x1="66667" y1="41860" x2="66667" y2="41860"/>
                        <a14:backgroundMark x1="64286" y1="41860" x2="64286" y2="4186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37962" y="6079036"/>
            <a:ext cx="274035" cy="277799"/>
          </a:xfrm>
          <a:prstGeom prst="rect">
            <a:avLst/>
          </a:prstGeom>
          <a:noFill/>
        </p:spPr>
      </p:pic>
      <p:sp>
        <p:nvSpPr>
          <p:cNvPr id="17464" name="TextBox 17463">
            <a:extLst>
              <a:ext uri="{FF2B5EF4-FFF2-40B4-BE49-F238E27FC236}">
                <a16:creationId xmlns:a16="http://schemas.microsoft.com/office/drawing/2014/main" id="{160E09A2-A47A-70E4-22BE-68DFEF9BB8D7}"/>
              </a:ext>
            </a:extLst>
          </p:cNvPr>
          <p:cNvSpPr txBox="1"/>
          <p:nvPr/>
        </p:nvSpPr>
        <p:spPr>
          <a:xfrm>
            <a:off x="4953737" y="6055345"/>
            <a:ext cx="969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Data Protection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465" name="Straight Connector 17464">
            <a:extLst>
              <a:ext uri="{FF2B5EF4-FFF2-40B4-BE49-F238E27FC236}">
                <a16:creationId xmlns:a16="http://schemas.microsoft.com/office/drawing/2014/main" id="{23F621A9-CFC9-C89C-210E-9107B221BF22}"/>
              </a:ext>
            </a:extLst>
          </p:cNvPr>
          <p:cNvCxnSpPr/>
          <p:nvPr/>
        </p:nvCxnSpPr>
        <p:spPr>
          <a:xfrm>
            <a:off x="5858321" y="6030737"/>
            <a:ext cx="0" cy="425522"/>
          </a:xfrm>
          <a:prstGeom prst="line">
            <a:avLst/>
          </a:prstGeom>
          <a:ln w="12700">
            <a:solidFill>
              <a:srgbClr val="D6B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67" name="Graphic 17466" descr="Cloud">
            <a:extLst>
              <a:ext uri="{FF2B5EF4-FFF2-40B4-BE49-F238E27FC236}">
                <a16:creationId xmlns:a16="http://schemas.microsoft.com/office/drawing/2014/main" id="{8E0E2A30-3CD3-5525-4583-498C501629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56468" y="6043436"/>
            <a:ext cx="370541" cy="370541"/>
          </a:xfrm>
          <a:prstGeom prst="rect">
            <a:avLst/>
          </a:prstGeom>
        </p:spPr>
      </p:pic>
      <p:sp>
        <p:nvSpPr>
          <p:cNvPr id="17468" name="TextBox 17467">
            <a:extLst>
              <a:ext uri="{FF2B5EF4-FFF2-40B4-BE49-F238E27FC236}">
                <a16:creationId xmlns:a16="http://schemas.microsoft.com/office/drawing/2014/main" id="{1B45405E-D4AD-8200-8283-2CDDF70DAA30}"/>
              </a:ext>
            </a:extLst>
          </p:cNvPr>
          <p:cNvSpPr txBox="1"/>
          <p:nvPr/>
        </p:nvSpPr>
        <p:spPr>
          <a:xfrm>
            <a:off x="6286101" y="6049597"/>
            <a:ext cx="1306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Scalable Cloud Hosting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469" name="Straight Connector 17468">
            <a:extLst>
              <a:ext uri="{FF2B5EF4-FFF2-40B4-BE49-F238E27FC236}">
                <a16:creationId xmlns:a16="http://schemas.microsoft.com/office/drawing/2014/main" id="{972D2D3B-2AED-B1B8-F6CD-3F261C52D4A0}"/>
              </a:ext>
            </a:extLst>
          </p:cNvPr>
          <p:cNvCxnSpPr/>
          <p:nvPr/>
        </p:nvCxnSpPr>
        <p:spPr>
          <a:xfrm>
            <a:off x="7592359" y="5986294"/>
            <a:ext cx="0" cy="425522"/>
          </a:xfrm>
          <a:prstGeom prst="line">
            <a:avLst/>
          </a:prstGeom>
          <a:ln w="12700">
            <a:solidFill>
              <a:srgbClr val="D6B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71" name="Graphic 17470" descr="Hourglass">
            <a:extLst>
              <a:ext uri="{FF2B5EF4-FFF2-40B4-BE49-F238E27FC236}">
                <a16:creationId xmlns:a16="http://schemas.microsoft.com/office/drawing/2014/main" id="{8E060A6B-6487-CDFC-D396-068D279581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705671" y="6069264"/>
            <a:ext cx="316792" cy="316792"/>
          </a:xfrm>
          <a:prstGeom prst="rect">
            <a:avLst/>
          </a:prstGeom>
        </p:spPr>
      </p:pic>
      <p:sp>
        <p:nvSpPr>
          <p:cNvPr id="17472" name="TextBox 17471">
            <a:extLst>
              <a:ext uri="{FF2B5EF4-FFF2-40B4-BE49-F238E27FC236}">
                <a16:creationId xmlns:a16="http://schemas.microsoft.com/office/drawing/2014/main" id="{5941CF38-C9ED-7A12-1F48-94726EC847A8}"/>
              </a:ext>
            </a:extLst>
          </p:cNvPr>
          <p:cNvSpPr txBox="1"/>
          <p:nvPr/>
        </p:nvSpPr>
        <p:spPr>
          <a:xfrm>
            <a:off x="7810971" y="6030737"/>
            <a:ext cx="1137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24/7</a:t>
            </a: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Uptime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646169" y="9546"/>
            <a:ext cx="4899660" cy="63397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C1BB7-FEB4-4B96-064A-F1EF7E1EB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62346"/>
            <a:ext cx="12191999" cy="2052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772F61C-BE4D-95F9-DAA6-D0CE97E8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9970" y="6504332"/>
            <a:ext cx="392430" cy="480012"/>
          </a:xfrm>
        </p:spPr>
        <p:txBody>
          <a:bodyPr/>
          <a:lstStyle/>
          <a:p>
            <a:fld id="{677C3CE7-23F7-4828-823C-E0205DF2CF97}" type="slidenum">
              <a:rPr lang="en-US" sz="1800" b="1">
                <a:solidFill>
                  <a:schemeClr val="bg1"/>
                </a:solidFill>
              </a:rPr>
              <a:pPr/>
              <a:t>4</a:t>
            </a:fld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9E7892DD-33F1-0F74-DB27-479E4A501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583656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AD01F-5887-BED9-0123-EA08F98A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567" y="25689"/>
            <a:ext cx="1777224" cy="839172"/>
          </a:xfrm>
          <a:prstGeom prst="rect">
            <a:avLst/>
          </a:prstGeom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3C9055AE-7569-AFCF-FFC9-437B5E5F771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70352"/>
            <a:ext cx="1552436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Parallax</a:t>
            </a:r>
            <a:endParaRPr lang="en-IN" sz="20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6156A-111F-61EE-7BEA-E03FE01ED3A7}"/>
              </a:ext>
            </a:extLst>
          </p:cNvPr>
          <p:cNvSpPr/>
          <p:nvPr/>
        </p:nvSpPr>
        <p:spPr>
          <a:xfrm>
            <a:off x="7995189" y="1122881"/>
            <a:ext cx="4223954" cy="3762964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3F81E-E73A-113D-78B9-5172C10D57DF}"/>
              </a:ext>
            </a:extLst>
          </p:cNvPr>
          <p:cNvSpPr/>
          <p:nvPr/>
        </p:nvSpPr>
        <p:spPr>
          <a:xfrm>
            <a:off x="94213" y="1231028"/>
            <a:ext cx="3670081" cy="50596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713EC1-131B-0FEC-E6EA-BCAABC72EE1D}"/>
              </a:ext>
            </a:extLst>
          </p:cNvPr>
          <p:cNvSpPr/>
          <p:nvPr/>
        </p:nvSpPr>
        <p:spPr>
          <a:xfrm>
            <a:off x="3900575" y="1122881"/>
            <a:ext cx="3904488" cy="3762964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53C45F-9ED4-86B2-2940-81EC0EB1771C}"/>
              </a:ext>
            </a:extLst>
          </p:cNvPr>
          <p:cNvSpPr/>
          <p:nvPr/>
        </p:nvSpPr>
        <p:spPr>
          <a:xfrm>
            <a:off x="3900575" y="1116359"/>
            <a:ext cx="3904488" cy="4802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9EC78D-FF83-979D-A3A9-A0A48281F11C}"/>
              </a:ext>
            </a:extLst>
          </p:cNvPr>
          <p:cNvSpPr/>
          <p:nvPr/>
        </p:nvSpPr>
        <p:spPr>
          <a:xfrm>
            <a:off x="8003678" y="1137996"/>
            <a:ext cx="4215466" cy="4802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62236E-3AFE-581F-F35E-5F99C8690BBE}"/>
              </a:ext>
            </a:extLst>
          </p:cNvPr>
          <p:cNvSpPr/>
          <p:nvPr/>
        </p:nvSpPr>
        <p:spPr>
          <a:xfrm>
            <a:off x="94212" y="1122881"/>
            <a:ext cx="3686904" cy="5340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8EA4F7-898F-B7CD-BA36-4843D8E2949A}"/>
              </a:ext>
            </a:extLst>
          </p:cNvPr>
          <p:cNvSpPr txBox="1"/>
          <p:nvPr/>
        </p:nvSpPr>
        <p:spPr>
          <a:xfrm>
            <a:off x="4417644" y="1047435"/>
            <a:ext cx="1949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 FEASIBILITY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A59D7-AEFA-897F-8535-660D11B1D2D3}"/>
              </a:ext>
            </a:extLst>
          </p:cNvPr>
          <p:cNvSpPr txBox="1"/>
          <p:nvPr/>
        </p:nvSpPr>
        <p:spPr>
          <a:xfrm>
            <a:off x="4939695" y="1342364"/>
            <a:ext cx="285096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Technical + Market + Operational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A0455124-D4EC-BAF4-3695-9EF955610B25}"/>
              </a:ext>
            </a:extLst>
          </p:cNvPr>
          <p:cNvSpPr/>
          <p:nvPr/>
        </p:nvSpPr>
        <p:spPr>
          <a:xfrm>
            <a:off x="3969588" y="1139995"/>
            <a:ext cx="385140" cy="374904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Image 8" descr="/home/claude/krishisetu/icons/gear.png">
            <a:extLst>
              <a:ext uri="{FF2B5EF4-FFF2-40B4-BE49-F238E27FC236}">
                <a16:creationId xmlns:a16="http://schemas.microsoft.com/office/drawing/2014/main" id="{D4AB230D-5E69-DC2A-3F4F-4DB2601D386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22158" y="1161811"/>
            <a:ext cx="280000" cy="3404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7AA65B2-51DC-6E74-8CF6-92A5FBC74A34}"/>
              </a:ext>
            </a:extLst>
          </p:cNvPr>
          <p:cNvSpPr txBox="1"/>
          <p:nvPr/>
        </p:nvSpPr>
        <p:spPr>
          <a:xfrm>
            <a:off x="8568600" y="1055748"/>
            <a:ext cx="167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3. VIABILITY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02242708-D75D-6F62-BA34-96A23B8905EE}"/>
              </a:ext>
            </a:extLst>
          </p:cNvPr>
          <p:cNvSpPr/>
          <p:nvPr/>
        </p:nvSpPr>
        <p:spPr>
          <a:xfrm>
            <a:off x="8113056" y="1136185"/>
            <a:ext cx="418152" cy="36933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Image 16" descr="/home/claude/krishisetu/icons/chart.png">
            <a:extLst>
              <a:ext uri="{FF2B5EF4-FFF2-40B4-BE49-F238E27FC236}">
                <a16:creationId xmlns:a16="http://schemas.microsoft.com/office/drawing/2014/main" id="{F254967D-D474-82C4-8285-72E100FCBC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7552" y="1162464"/>
            <a:ext cx="298188" cy="2981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4B98186-1066-CB13-1C5B-97A9EE19795A}"/>
              </a:ext>
            </a:extLst>
          </p:cNvPr>
          <p:cNvSpPr txBox="1"/>
          <p:nvPr/>
        </p:nvSpPr>
        <p:spPr>
          <a:xfrm>
            <a:off x="903833" y="1196522"/>
            <a:ext cx="2300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1. FINANCIALS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EF4AA88E-61F5-E9C8-2E4A-728A80D92028}"/>
              </a:ext>
            </a:extLst>
          </p:cNvPr>
          <p:cNvSpPr/>
          <p:nvPr/>
        </p:nvSpPr>
        <p:spPr>
          <a:xfrm>
            <a:off x="225487" y="1233350"/>
            <a:ext cx="471524" cy="406764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Image 4" descr="/home/claude/krishisetu/icons/coins.png">
            <a:extLst>
              <a:ext uri="{FF2B5EF4-FFF2-40B4-BE49-F238E27FC236}">
                <a16:creationId xmlns:a16="http://schemas.microsoft.com/office/drawing/2014/main" id="{BFA74F19-0ABF-9BD3-1850-A922E72D81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688" y="1284305"/>
            <a:ext cx="281549" cy="28154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CF9D463-4439-578A-7B57-642F53C9FD57}"/>
              </a:ext>
            </a:extLst>
          </p:cNvPr>
          <p:cNvSpPr txBox="1"/>
          <p:nvPr/>
        </p:nvSpPr>
        <p:spPr>
          <a:xfrm>
            <a:off x="4551677" y="1677540"/>
            <a:ext cx="3424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Existing stack: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HTML • CSS • JavaScript • Node.js • Express • PostgreSQL •  OR-Tools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004E77-4794-9C37-DD53-19F1A577460F}"/>
              </a:ext>
            </a:extLst>
          </p:cNvPr>
          <p:cNvSpPr txBox="1"/>
          <p:nvPr/>
        </p:nvSpPr>
        <p:spPr>
          <a:xfrm>
            <a:off x="4559253" y="2195359"/>
            <a:ext cx="3352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Maps + OR-Tools: </a:t>
            </a:r>
            <a:r>
              <a:rPr lang="en-US" sz="1200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distance, capacity, pickup/delivery, time windows, routing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ED7B4C-338C-1618-BAB4-CAC5C072C876}"/>
              </a:ext>
            </a:extLst>
          </p:cNvPr>
          <p:cNvSpPr txBox="1"/>
          <p:nvPr/>
        </p:nvSpPr>
        <p:spPr>
          <a:xfrm>
            <a:off x="4532109" y="2643018"/>
            <a:ext cx="3247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86.2% of holdings </a:t>
            </a:r>
            <a:r>
              <a:rPr lang="en-US" sz="1200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are small &amp; marginal (≤2 ha).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3ABFAD-A71B-FE8E-7DB5-8B8DBB039B44}"/>
              </a:ext>
            </a:extLst>
          </p:cNvPr>
          <p:cNvSpPr txBox="1"/>
          <p:nvPr/>
        </p:nvSpPr>
        <p:spPr>
          <a:xfrm>
            <a:off x="4543188" y="3027066"/>
            <a:ext cx="3247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398.35M rural internet subscribers; </a:t>
            </a:r>
            <a:r>
              <a:rPr lang="en-US" sz="1200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44.16 per 100 population (FY 2023–24)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1A3FDA-24E6-B460-45F1-89D42915B60F}"/>
              </a:ext>
            </a:extLst>
          </p:cNvPr>
          <p:cNvSpPr txBox="1"/>
          <p:nvPr/>
        </p:nvSpPr>
        <p:spPr>
          <a:xfrm>
            <a:off x="4568666" y="3563265"/>
            <a:ext cx="3320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e-NAM currently links 1,522 markets </a:t>
            </a: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across 23 states + 4 UTs — evidence of a large digital agricultural market ecosystem.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0B63CE-C1F9-EDF4-603B-95A6DDF26C9A}"/>
              </a:ext>
            </a:extLst>
          </p:cNvPr>
          <p:cNvSpPr txBox="1"/>
          <p:nvPr/>
        </p:nvSpPr>
        <p:spPr>
          <a:xfrm>
            <a:off x="3964978" y="4334658"/>
            <a:ext cx="3951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Buildable with existing technology + real market need + practical partner-based operations.</a:t>
            </a:r>
            <a:endParaRPr lang="en-US" sz="1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CDC901-38BB-2383-246F-BB507DA2536B}"/>
              </a:ext>
            </a:extLst>
          </p:cNvPr>
          <p:cNvSpPr txBox="1"/>
          <p:nvPr/>
        </p:nvSpPr>
        <p:spPr>
          <a:xfrm>
            <a:off x="8663043" y="1668626"/>
            <a:ext cx="2697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Revenue Engines:</a:t>
            </a:r>
          </a:p>
          <a:p>
            <a:r>
              <a:rPr lang="en-US" sz="1200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Logistics Fee | Buyer/FPO Tools | Analytics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0414E4-C5B4-E4F3-622B-D8689DF6846E}"/>
              </a:ext>
            </a:extLst>
          </p:cNvPr>
          <p:cNvSpPr txBox="1"/>
          <p:nvPr/>
        </p:nvSpPr>
        <p:spPr>
          <a:xfrm>
            <a:off x="8642089" y="2314102"/>
            <a:ext cx="3461334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Public-private partnerships </a:t>
            </a:r>
            <a:r>
              <a:rPr lang="en-US" sz="1200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with FPOs &amp; logistics firms enable </a:t>
            </a: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asset-light scaling.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783E82-7072-316B-C0B1-CAA8C7D5D30E}"/>
              </a:ext>
            </a:extLst>
          </p:cNvPr>
          <p:cNvSpPr txBox="1"/>
          <p:nvPr/>
        </p:nvSpPr>
        <p:spPr>
          <a:xfrm>
            <a:off x="8660648" y="2809474"/>
            <a:ext cx="3352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B2B repeat demand → </a:t>
            </a:r>
            <a:r>
              <a:rPr lang="en-US" sz="1200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recurring transactions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32BCC7-633D-5E63-1D0B-2487A49D9C41}"/>
              </a:ext>
            </a:extLst>
          </p:cNvPr>
          <p:cNvSpPr txBox="1"/>
          <p:nvPr/>
        </p:nvSpPr>
        <p:spPr>
          <a:xfrm>
            <a:off x="8727018" y="3080405"/>
            <a:ext cx="3302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B4E32A-9534-39B5-C686-13C030C171DF}"/>
              </a:ext>
            </a:extLst>
          </p:cNvPr>
          <p:cNvSpPr txBox="1"/>
          <p:nvPr/>
        </p:nvSpPr>
        <p:spPr>
          <a:xfrm>
            <a:off x="8642089" y="3128332"/>
            <a:ext cx="3323869" cy="482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Fragmented supply + </a:t>
            </a:r>
            <a:r>
              <a:rPr lang="en-US" sz="1200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recurring bulk demand creates a scalable logistics opportunity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3943E8-635D-778B-FABD-E065394F9FC2}"/>
              </a:ext>
            </a:extLst>
          </p:cNvPr>
          <p:cNvSpPr txBox="1"/>
          <p:nvPr/>
        </p:nvSpPr>
        <p:spPr>
          <a:xfrm>
            <a:off x="8663043" y="3614267"/>
            <a:ext cx="330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Scalable </a:t>
            </a:r>
            <a:r>
              <a:rPr lang="en-US" sz="1200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by geography, crop and buyer segment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8475DA-DC18-9EEB-6963-7FE2FE673DE9}"/>
              </a:ext>
            </a:extLst>
          </p:cNvPr>
          <p:cNvSpPr txBox="1"/>
          <p:nvPr/>
        </p:nvSpPr>
        <p:spPr>
          <a:xfrm>
            <a:off x="8663043" y="3998875"/>
            <a:ext cx="309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Value created: </a:t>
            </a:r>
            <a:r>
              <a:rPr lang="en-US" sz="1200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better aggregation, lower friction, more traceability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B2E456-E3E4-1C71-CECD-60853D0E14FA}"/>
              </a:ext>
            </a:extLst>
          </p:cNvPr>
          <p:cNvSpPr txBox="1"/>
          <p:nvPr/>
        </p:nvSpPr>
        <p:spPr>
          <a:xfrm>
            <a:off x="7968045" y="4449220"/>
            <a:ext cx="3951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Scale levers:  </a:t>
            </a:r>
            <a:r>
              <a:rPr lang="en-US" sz="1200" b="1" dirty="0">
                <a:solidFill>
                  <a:srgbClr val="1565C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Orders ↑   GMV ↑   Repeat buyers ↑   Route utilization ↑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1413F51-7AF9-2E62-104F-BA39E0C22CF4}"/>
              </a:ext>
            </a:extLst>
          </p:cNvPr>
          <p:cNvSpPr/>
          <p:nvPr/>
        </p:nvSpPr>
        <p:spPr>
          <a:xfrm>
            <a:off x="4034835" y="1703547"/>
            <a:ext cx="392508" cy="354577"/>
          </a:xfrm>
          <a:prstGeom prst="ellipse">
            <a:avLst/>
          </a:prstGeom>
          <a:solidFill>
            <a:srgbClr val="1565C0"/>
          </a:solidFill>
          <a:ln/>
          <a:effectLst>
            <a:outerShdw blurRad="38100" dist="1524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8" name="Image 9" descr="/home/claude/krishisetu/icons/code.png">
            <a:extLst>
              <a:ext uri="{FF2B5EF4-FFF2-40B4-BE49-F238E27FC236}">
                <a16:creationId xmlns:a16="http://schemas.microsoft.com/office/drawing/2014/main" id="{B25D09C8-017A-F63E-B539-96A56FE24C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5400" y="1738677"/>
            <a:ext cx="310033" cy="298093"/>
          </a:xfrm>
          <a:prstGeom prst="rect">
            <a:avLst/>
          </a:prstGeom>
        </p:spPr>
      </p:pic>
      <p:sp>
        <p:nvSpPr>
          <p:cNvPr id="39" name="Shape 36">
            <a:extLst>
              <a:ext uri="{FF2B5EF4-FFF2-40B4-BE49-F238E27FC236}">
                <a16:creationId xmlns:a16="http://schemas.microsoft.com/office/drawing/2014/main" id="{A1A70E66-A175-5B3D-B0B4-07794D2DF00C}"/>
              </a:ext>
            </a:extLst>
          </p:cNvPr>
          <p:cNvSpPr/>
          <p:nvPr/>
        </p:nvSpPr>
        <p:spPr>
          <a:xfrm>
            <a:off x="4030511" y="2159546"/>
            <a:ext cx="422309" cy="382888"/>
          </a:xfrm>
          <a:prstGeom prst="ellipse">
            <a:avLst/>
          </a:prstGeom>
          <a:solidFill>
            <a:srgbClr val="1E8E5A"/>
          </a:solidFill>
          <a:ln/>
          <a:effectLst>
            <a:outerShdw blurRad="38100" dist="1524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0" name="Image 10" descr="/home/claude/krishisetu/icons/map.png">
            <a:extLst>
              <a:ext uri="{FF2B5EF4-FFF2-40B4-BE49-F238E27FC236}">
                <a16:creationId xmlns:a16="http://schemas.microsoft.com/office/drawing/2014/main" id="{13B48D7F-AEF4-353F-8DF8-590B5F5C10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0369" y="2183833"/>
            <a:ext cx="282753" cy="282753"/>
          </a:xfrm>
          <a:prstGeom prst="rect">
            <a:avLst/>
          </a:prstGeom>
        </p:spPr>
      </p:pic>
      <p:sp>
        <p:nvSpPr>
          <p:cNvPr id="41" name="Shape 38">
            <a:extLst>
              <a:ext uri="{FF2B5EF4-FFF2-40B4-BE49-F238E27FC236}">
                <a16:creationId xmlns:a16="http://schemas.microsoft.com/office/drawing/2014/main" id="{722C15C5-8011-99DC-2E37-D702EEB54399}"/>
              </a:ext>
            </a:extLst>
          </p:cNvPr>
          <p:cNvSpPr/>
          <p:nvPr/>
        </p:nvSpPr>
        <p:spPr>
          <a:xfrm>
            <a:off x="4034835" y="2615268"/>
            <a:ext cx="392507" cy="357083"/>
          </a:xfrm>
          <a:prstGeom prst="ellipse">
            <a:avLst/>
          </a:prstGeom>
          <a:solidFill>
            <a:srgbClr val="E07A26"/>
          </a:solidFill>
          <a:ln/>
          <a:effectLst>
            <a:outerShdw blurRad="38100" dist="1524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70">
            <a:extLst>
              <a:ext uri="{FF2B5EF4-FFF2-40B4-BE49-F238E27FC236}">
                <a16:creationId xmlns:a16="http://schemas.microsoft.com/office/drawing/2014/main" id="{EDFEDC0C-A70E-0679-D88A-56812414315F}"/>
              </a:ext>
            </a:extLst>
          </p:cNvPr>
          <p:cNvSpPr/>
          <p:nvPr/>
        </p:nvSpPr>
        <p:spPr>
          <a:xfrm>
            <a:off x="4004194" y="3642857"/>
            <a:ext cx="422310" cy="386810"/>
          </a:xfrm>
          <a:prstGeom prst="ellipse">
            <a:avLst/>
          </a:prstGeom>
          <a:solidFill>
            <a:srgbClr val="1E8E5A"/>
          </a:solidFill>
          <a:ln/>
          <a:effectLst>
            <a:outerShdw blurRad="38100" dist="1524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24DA6E34-F29A-F0A2-4FF2-B4A20BD30BCF}"/>
              </a:ext>
            </a:extLst>
          </p:cNvPr>
          <p:cNvSpPr/>
          <p:nvPr/>
        </p:nvSpPr>
        <p:spPr>
          <a:xfrm>
            <a:off x="4014328" y="3100214"/>
            <a:ext cx="412176" cy="386810"/>
          </a:xfrm>
          <a:prstGeom prst="ellipse">
            <a:avLst/>
          </a:prstGeom>
          <a:solidFill>
            <a:srgbClr val="1B7A8C"/>
          </a:solidFill>
          <a:ln/>
          <a:effectLst>
            <a:outerShdw blurRad="38100" dist="1524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4" name="Image 24" descr="/home/claude/krishisetu/icons/landmark.png">
            <a:extLst>
              <a:ext uri="{FF2B5EF4-FFF2-40B4-BE49-F238E27FC236}">
                <a16:creationId xmlns:a16="http://schemas.microsoft.com/office/drawing/2014/main" id="{EACD23E0-7AB3-2BA3-6B30-9BBAE92817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 flipV="1">
            <a:off x="4065400" y="3719572"/>
            <a:ext cx="315530" cy="178201"/>
          </a:xfrm>
          <a:prstGeom prst="rect">
            <a:avLst/>
          </a:prstGeom>
        </p:spPr>
      </p:pic>
      <p:pic>
        <p:nvPicPr>
          <p:cNvPr id="45" name="Image 12" descr="/home/claude/krishisetu/icons/wifi.png">
            <a:extLst>
              <a:ext uri="{FF2B5EF4-FFF2-40B4-BE49-F238E27FC236}">
                <a16:creationId xmlns:a16="http://schemas.microsoft.com/office/drawing/2014/main" id="{64CD658D-D19E-0556-412C-7B9EDFA644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1714" y="3175532"/>
            <a:ext cx="263014" cy="263014"/>
          </a:xfrm>
          <a:prstGeom prst="rect">
            <a:avLst/>
          </a:prstGeom>
        </p:spPr>
      </p:pic>
      <p:pic>
        <p:nvPicPr>
          <p:cNvPr id="46" name="Image 11" descr="/home/claude/krishisetu/icons/farmer.png">
            <a:extLst>
              <a:ext uri="{FF2B5EF4-FFF2-40B4-BE49-F238E27FC236}">
                <a16:creationId xmlns:a16="http://schemas.microsoft.com/office/drawing/2014/main" id="{7BA825A4-291D-86EC-C6F7-3C21EC4FAE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5399" y="2672814"/>
            <a:ext cx="325033" cy="246331"/>
          </a:xfrm>
          <a:prstGeom prst="rect">
            <a:avLst/>
          </a:prstGeom>
        </p:spPr>
      </p:pic>
      <p:sp>
        <p:nvSpPr>
          <p:cNvPr id="47" name="Shape 55">
            <a:extLst>
              <a:ext uri="{FF2B5EF4-FFF2-40B4-BE49-F238E27FC236}">
                <a16:creationId xmlns:a16="http://schemas.microsoft.com/office/drawing/2014/main" id="{66742DC9-4464-85EF-E888-9C3C84848DF0}"/>
              </a:ext>
            </a:extLst>
          </p:cNvPr>
          <p:cNvSpPr/>
          <p:nvPr/>
        </p:nvSpPr>
        <p:spPr>
          <a:xfrm>
            <a:off x="8065729" y="1785557"/>
            <a:ext cx="404561" cy="363775"/>
          </a:xfrm>
          <a:prstGeom prst="ellipse">
            <a:avLst/>
          </a:prstGeom>
          <a:solidFill>
            <a:srgbClr val="1E8E5A"/>
          </a:solidFill>
          <a:ln/>
          <a:effectLst>
            <a:outerShdw blurRad="38100" dist="1524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8" name="Image 17" descr="/home/claude/krishisetu/icons/moneybag.png">
            <a:extLst>
              <a:ext uri="{FF2B5EF4-FFF2-40B4-BE49-F238E27FC236}">
                <a16:creationId xmlns:a16="http://schemas.microsoft.com/office/drawing/2014/main" id="{17902DC7-2D03-EA22-6DDF-38702E316CF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3376" y="1845071"/>
            <a:ext cx="276999" cy="276999"/>
          </a:xfrm>
          <a:prstGeom prst="rect">
            <a:avLst/>
          </a:prstGeom>
        </p:spPr>
      </p:pic>
      <p:sp>
        <p:nvSpPr>
          <p:cNvPr id="49" name="Shape 57">
            <a:extLst>
              <a:ext uri="{FF2B5EF4-FFF2-40B4-BE49-F238E27FC236}">
                <a16:creationId xmlns:a16="http://schemas.microsoft.com/office/drawing/2014/main" id="{9CE717C3-95B5-B1E1-31ED-734A9C0C507B}"/>
              </a:ext>
            </a:extLst>
          </p:cNvPr>
          <p:cNvSpPr/>
          <p:nvPr/>
        </p:nvSpPr>
        <p:spPr>
          <a:xfrm>
            <a:off x="8044207" y="2343535"/>
            <a:ext cx="404561" cy="342767"/>
          </a:xfrm>
          <a:prstGeom prst="ellipse">
            <a:avLst/>
          </a:prstGeom>
          <a:solidFill>
            <a:srgbClr val="6A4C93"/>
          </a:solidFill>
          <a:ln/>
          <a:effectLst>
            <a:outerShdw blurRad="38100" dist="1524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0" name="Image 18" descr="/home/claude/krishisetu/icons/handshake.png">
            <a:extLst>
              <a:ext uri="{FF2B5EF4-FFF2-40B4-BE49-F238E27FC236}">
                <a16:creationId xmlns:a16="http://schemas.microsoft.com/office/drawing/2014/main" id="{4BE6A8D6-2ADA-27F4-2138-1F49327649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9449" y="2386671"/>
            <a:ext cx="276999" cy="276999"/>
          </a:xfrm>
          <a:prstGeom prst="rect">
            <a:avLst/>
          </a:prstGeom>
        </p:spPr>
      </p:pic>
      <p:sp>
        <p:nvSpPr>
          <p:cNvPr id="51" name="Shape 59">
            <a:extLst>
              <a:ext uri="{FF2B5EF4-FFF2-40B4-BE49-F238E27FC236}">
                <a16:creationId xmlns:a16="http://schemas.microsoft.com/office/drawing/2014/main" id="{70B78A60-6032-E183-5663-CACBF86D2326}"/>
              </a:ext>
            </a:extLst>
          </p:cNvPr>
          <p:cNvSpPr/>
          <p:nvPr/>
        </p:nvSpPr>
        <p:spPr>
          <a:xfrm>
            <a:off x="8044207" y="2752746"/>
            <a:ext cx="389070" cy="342767"/>
          </a:xfrm>
          <a:prstGeom prst="ellipse">
            <a:avLst/>
          </a:prstGeom>
          <a:solidFill>
            <a:srgbClr val="1565C0"/>
          </a:solidFill>
          <a:ln/>
          <a:effectLst>
            <a:outerShdw blurRad="38100" dist="1524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2" name="Image 19" descr="/home/claude/krishisetu/icons/sync.png">
            <a:extLst>
              <a:ext uri="{FF2B5EF4-FFF2-40B4-BE49-F238E27FC236}">
                <a16:creationId xmlns:a16="http://schemas.microsoft.com/office/drawing/2014/main" id="{98C45128-BCCB-A9DC-1811-274273201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31321" y="2823949"/>
            <a:ext cx="230332" cy="230332"/>
          </a:xfrm>
          <a:prstGeom prst="rect">
            <a:avLst/>
          </a:prstGeom>
        </p:spPr>
      </p:pic>
      <p:sp>
        <p:nvSpPr>
          <p:cNvPr id="53" name="Shape 61">
            <a:extLst>
              <a:ext uri="{FF2B5EF4-FFF2-40B4-BE49-F238E27FC236}">
                <a16:creationId xmlns:a16="http://schemas.microsoft.com/office/drawing/2014/main" id="{C3DCBF0E-E559-3589-8CC3-7FD810A131AC}"/>
              </a:ext>
            </a:extLst>
          </p:cNvPr>
          <p:cNvSpPr/>
          <p:nvPr/>
        </p:nvSpPr>
        <p:spPr>
          <a:xfrm>
            <a:off x="8065729" y="3198429"/>
            <a:ext cx="375952" cy="369331"/>
          </a:xfrm>
          <a:prstGeom prst="ellipse">
            <a:avLst/>
          </a:prstGeom>
          <a:solidFill>
            <a:srgbClr val="E07A26"/>
          </a:solidFill>
          <a:ln/>
          <a:effectLst>
            <a:outerShdw blurRad="38100" dist="1524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4" name="Image 20" descr="/home/claude/krishisetu/icons/network.png">
            <a:extLst>
              <a:ext uri="{FF2B5EF4-FFF2-40B4-BE49-F238E27FC236}">
                <a16:creationId xmlns:a16="http://schemas.microsoft.com/office/drawing/2014/main" id="{B14DD97C-9798-1F4C-D7D4-D612EDDF02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46235" y="3298492"/>
            <a:ext cx="235654" cy="235654"/>
          </a:xfrm>
          <a:prstGeom prst="rect">
            <a:avLst/>
          </a:prstGeom>
        </p:spPr>
      </p:pic>
      <p:sp>
        <p:nvSpPr>
          <p:cNvPr id="55" name="Shape 63">
            <a:extLst>
              <a:ext uri="{FF2B5EF4-FFF2-40B4-BE49-F238E27FC236}">
                <a16:creationId xmlns:a16="http://schemas.microsoft.com/office/drawing/2014/main" id="{C0B622C7-BFD5-21B8-3DA8-427F1C5110E2}"/>
              </a:ext>
            </a:extLst>
          </p:cNvPr>
          <p:cNvSpPr/>
          <p:nvPr/>
        </p:nvSpPr>
        <p:spPr>
          <a:xfrm>
            <a:off x="8044207" y="3656138"/>
            <a:ext cx="457608" cy="342737"/>
          </a:xfrm>
          <a:prstGeom prst="ellipse">
            <a:avLst/>
          </a:prstGeom>
          <a:solidFill>
            <a:srgbClr val="1B7A8C"/>
          </a:solidFill>
          <a:ln/>
          <a:effectLst>
            <a:outerShdw blurRad="38100" dist="1524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6" name="Image 21" descr="/home/claude/krishisetu/icons/mappin.png">
            <a:extLst>
              <a:ext uri="{FF2B5EF4-FFF2-40B4-BE49-F238E27FC236}">
                <a16:creationId xmlns:a16="http://schemas.microsoft.com/office/drawing/2014/main" id="{91092CD4-F917-1778-FC33-30B10239B1A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0800000" flipV="1">
            <a:off x="8119332" y="3687616"/>
            <a:ext cx="305085" cy="243090"/>
          </a:xfrm>
          <a:prstGeom prst="rect">
            <a:avLst/>
          </a:prstGeom>
        </p:spPr>
      </p:pic>
      <p:sp>
        <p:nvSpPr>
          <p:cNvPr id="57" name="Shape 65">
            <a:extLst>
              <a:ext uri="{FF2B5EF4-FFF2-40B4-BE49-F238E27FC236}">
                <a16:creationId xmlns:a16="http://schemas.microsoft.com/office/drawing/2014/main" id="{4346E61A-95A6-4295-F225-653E1C913A70}"/>
              </a:ext>
            </a:extLst>
          </p:cNvPr>
          <p:cNvSpPr/>
          <p:nvPr/>
        </p:nvSpPr>
        <p:spPr>
          <a:xfrm>
            <a:off x="8079583" y="4068303"/>
            <a:ext cx="411526" cy="366594"/>
          </a:xfrm>
          <a:prstGeom prst="ellipse">
            <a:avLst/>
          </a:prstGeom>
          <a:solidFill>
            <a:srgbClr val="146341"/>
          </a:solidFill>
          <a:ln/>
          <a:effectLst>
            <a:outerShdw blurRad="38100" dist="1524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8" name="Image 22" descr="/home/claude/krishisetu/icons/leaf.png">
            <a:extLst>
              <a:ext uri="{FF2B5EF4-FFF2-40B4-BE49-F238E27FC236}">
                <a16:creationId xmlns:a16="http://schemas.microsoft.com/office/drawing/2014/main" id="{279F8BB7-8A42-405E-AC17-7C563A4F9DE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8174794" y="4122916"/>
            <a:ext cx="222930" cy="22293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6084596-D40F-E650-8EE5-7C10FC9E5C80}"/>
              </a:ext>
            </a:extLst>
          </p:cNvPr>
          <p:cNvSpPr txBox="1"/>
          <p:nvPr/>
        </p:nvSpPr>
        <p:spPr>
          <a:xfrm>
            <a:off x="3913535" y="4938162"/>
            <a:ext cx="3904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4. CHALLENGES &amp; MITIGATION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320F708-626C-5A71-F1F9-6E0D42FE7C1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3900575" y="5359811"/>
            <a:ext cx="594666" cy="51111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2678804-EA89-BE28-2D9F-048DF8B273F3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5618938" y="5367033"/>
            <a:ext cx="643703" cy="50467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674CF21-BC62-CDAA-F02C-C86EF380A30E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7096684" y="5351387"/>
            <a:ext cx="535475" cy="45862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14811EE-8AA2-AC4A-2EF8-824316390B0C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8858183" y="5355665"/>
            <a:ext cx="549079" cy="443983"/>
          </a:xfrm>
          <a:prstGeom prst="rect">
            <a:avLst/>
          </a:prstGeom>
        </p:spPr>
      </p:pic>
      <p:pic>
        <p:nvPicPr>
          <p:cNvPr id="17408" name="Picture 17407">
            <a:extLst>
              <a:ext uri="{FF2B5EF4-FFF2-40B4-BE49-F238E27FC236}">
                <a16:creationId xmlns:a16="http://schemas.microsoft.com/office/drawing/2014/main" id="{E97C400F-4E74-B952-5CD1-B8C36B1FC588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>
            <a:fillRect/>
          </a:stretch>
        </p:blipFill>
        <p:spPr>
          <a:xfrm>
            <a:off x="10587013" y="5259133"/>
            <a:ext cx="525517" cy="438762"/>
          </a:xfrm>
          <a:prstGeom prst="rect">
            <a:avLst/>
          </a:prstGeom>
        </p:spPr>
      </p:pic>
      <p:cxnSp>
        <p:nvCxnSpPr>
          <p:cNvPr id="17410" name="Straight Arrow Connector 17409">
            <a:extLst>
              <a:ext uri="{FF2B5EF4-FFF2-40B4-BE49-F238E27FC236}">
                <a16:creationId xmlns:a16="http://schemas.microsoft.com/office/drawing/2014/main" id="{91427ACD-7398-C511-8CB9-33D5A9E4435C}"/>
              </a:ext>
            </a:extLst>
          </p:cNvPr>
          <p:cNvCxnSpPr/>
          <p:nvPr/>
        </p:nvCxnSpPr>
        <p:spPr>
          <a:xfrm>
            <a:off x="4648200" y="5619372"/>
            <a:ext cx="847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11" name="Straight Arrow Connector 17410">
            <a:extLst>
              <a:ext uri="{FF2B5EF4-FFF2-40B4-BE49-F238E27FC236}">
                <a16:creationId xmlns:a16="http://schemas.microsoft.com/office/drawing/2014/main" id="{0E9B8D35-8418-8CBF-819C-86C27008519E}"/>
              </a:ext>
            </a:extLst>
          </p:cNvPr>
          <p:cNvCxnSpPr/>
          <p:nvPr/>
        </p:nvCxnSpPr>
        <p:spPr>
          <a:xfrm>
            <a:off x="6262641" y="5586178"/>
            <a:ext cx="768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12" name="Straight Arrow Connector 17411">
            <a:extLst>
              <a:ext uri="{FF2B5EF4-FFF2-40B4-BE49-F238E27FC236}">
                <a16:creationId xmlns:a16="http://schemas.microsoft.com/office/drawing/2014/main" id="{BED152BE-F4A4-B20A-E860-ED7C39CBCD0B}"/>
              </a:ext>
            </a:extLst>
          </p:cNvPr>
          <p:cNvCxnSpPr>
            <a:cxnSpLocks/>
          </p:cNvCxnSpPr>
          <p:nvPr/>
        </p:nvCxnSpPr>
        <p:spPr>
          <a:xfrm>
            <a:off x="7748598" y="5546765"/>
            <a:ext cx="9784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13" name="Straight Arrow Connector 17412">
            <a:extLst>
              <a:ext uri="{FF2B5EF4-FFF2-40B4-BE49-F238E27FC236}">
                <a16:creationId xmlns:a16="http://schemas.microsoft.com/office/drawing/2014/main" id="{0685E655-BAFC-E0BA-E291-B2785F203FC4}"/>
              </a:ext>
            </a:extLst>
          </p:cNvPr>
          <p:cNvCxnSpPr>
            <a:cxnSpLocks/>
          </p:cNvCxnSpPr>
          <p:nvPr/>
        </p:nvCxnSpPr>
        <p:spPr>
          <a:xfrm>
            <a:off x="9407262" y="5559337"/>
            <a:ext cx="1156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F39C6771-7A6D-7AFD-EE16-19A62103D8E6}"/>
              </a:ext>
            </a:extLst>
          </p:cNvPr>
          <p:cNvSpPr txBox="1"/>
          <p:nvPr/>
        </p:nvSpPr>
        <p:spPr>
          <a:xfrm>
            <a:off x="4446191" y="5278576"/>
            <a:ext cx="13737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</a:t>
            </a:r>
            <a:r>
              <a:rPr lang="en-US" sz="1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Literacy</a:t>
            </a:r>
            <a:endParaRPr lang="en-IN" sz="1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5" name="TextBox 17414">
            <a:extLst>
              <a:ext uri="{FF2B5EF4-FFF2-40B4-BE49-F238E27FC236}">
                <a16:creationId xmlns:a16="http://schemas.microsoft.com/office/drawing/2014/main" id="{8316DFD6-AA58-01E8-CAFE-D1F006DCE6BE}"/>
              </a:ext>
            </a:extLst>
          </p:cNvPr>
          <p:cNvSpPr txBox="1"/>
          <p:nvPr/>
        </p:nvSpPr>
        <p:spPr>
          <a:xfrm>
            <a:off x="4390432" y="5681587"/>
            <a:ext cx="1486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Local language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+ simple UI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Voice interface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416" name="Straight Connector 17415">
            <a:extLst>
              <a:ext uri="{FF2B5EF4-FFF2-40B4-BE49-F238E27FC236}">
                <a16:creationId xmlns:a16="http://schemas.microsoft.com/office/drawing/2014/main" id="{4FDF4206-051B-470E-B45C-6F28088AF4E1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5940790" y="5871711"/>
            <a:ext cx="0" cy="4197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7" name="Straight Connector 17416">
            <a:extLst>
              <a:ext uri="{FF2B5EF4-FFF2-40B4-BE49-F238E27FC236}">
                <a16:creationId xmlns:a16="http://schemas.microsoft.com/office/drawing/2014/main" id="{A70A8A1F-B5D5-74F2-8989-46E3FBABD273}"/>
              </a:ext>
            </a:extLst>
          </p:cNvPr>
          <p:cNvCxnSpPr>
            <a:cxnSpLocks/>
          </p:cNvCxnSpPr>
          <p:nvPr/>
        </p:nvCxnSpPr>
        <p:spPr>
          <a:xfrm>
            <a:off x="7364421" y="5841886"/>
            <a:ext cx="0" cy="4197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Straight Connector 17417">
            <a:extLst>
              <a:ext uri="{FF2B5EF4-FFF2-40B4-BE49-F238E27FC236}">
                <a16:creationId xmlns:a16="http://schemas.microsoft.com/office/drawing/2014/main" id="{7266D39F-DD11-73F9-5CD3-7CFA2D33BEB6}"/>
              </a:ext>
            </a:extLst>
          </p:cNvPr>
          <p:cNvCxnSpPr>
            <a:cxnSpLocks/>
          </p:cNvCxnSpPr>
          <p:nvPr/>
        </p:nvCxnSpPr>
        <p:spPr>
          <a:xfrm>
            <a:off x="9238726" y="5799648"/>
            <a:ext cx="0" cy="4197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Straight Connector 17418">
            <a:extLst>
              <a:ext uri="{FF2B5EF4-FFF2-40B4-BE49-F238E27FC236}">
                <a16:creationId xmlns:a16="http://schemas.microsoft.com/office/drawing/2014/main" id="{A6B8B1A6-5174-E13B-AA83-6F2223993F40}"/>
              </a:ext>
            </a:extLst>
          </p:cNvPr>
          <p:cNvCxnSpPr>
            <a:cxnSpLocks/>
          </p:cNvCxnSpPr>
          <p:nvPr/>
        </p:nvCxnSpPr>
        <p:spPr>
          <a:xfrm>
            <a:off x="10629102" y="5759591"/>
            <a:ext cx="0" cy="4197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>
            <a:extLst>
              <a:ext uri="{FF2B5EF4-FFF2-40B4-BE49-F238E27FC236}">
                <a16:creationId xmlns:a16="http://schemas.microsoft.com/office/drawing/2014/main" id="{E6EE858D-1B1A-0190-02A9-1A571D01146A}"/>
              </a:ext>
            </a:extLst>
          </p:cNvPr>
          <p:cNvSpPr txBox="1"/>
          <p:nvPr/>
        </p:nvSpPr>
        <p:spPr>
          <a:xfrm>
            <a:off x="6095998" y="5269766"/>
            <a:ext cx="10688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endParaRPr lang="en-IN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1" name="TextBox 17420">
            <a:extLst>
              <a:ext uri="{FF2B5EF4-FFF2-40B4-BE49-F238E27FC236}">
                <a16:creationId xmlns:a16="http://schemas.microsoft.com/office/drawing/2014/main" id="{F6299776-265F-4F80-749A-FE3935EA44C0}"/>
              </a:ext>
            </a:extLst>
          </p:cNvPr>
          <p:cNvSpPr txBox="1"/>
          <p:nvPr/>
        </p:nvSpPr>
        <p:spPr>
          <a:xfrm>
            <a:off x="6104510" y="5644356"/>
            <a:ext cx="1327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Offline / 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Low-bandwidth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2" name="TextBox 17421">
            <a:extLst>
              <a:ext uri="{FF2B5EF4-FFF2-40B4-BE49-F238E27FC236}">
                <a16:creationId xmlns:a16="http://schemas.microsoft.com/office/drawing/2014/main" id="{B93E2FAE-BE21-71D1-9195-2044DA9CC934}"/>
              </a:ext>
            </a:extLst>
          </p:cNvPr>
          <p:cNvSpPr txBox="1"/>
          <p:nvPr/>
        </p:nvSpPr>
        <p:spPr>
          <a:xfrm>
            <a:off x="7678432" y="5253074"/>
            <a:ext cx="12126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 Trust</a:t>
            </a:r>
            <a:endParaRPr lang="en-IN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3" name="TextBox 17422">
            <a:extLst>
              <a:ext uri="{FF2B5EF4-FFF2-40B4-BE49-F238E27FC236}">
                <a16:creationId xmlns:a16="http://schemas.microsoft.com/office/drawing/2014/main" id="{EEFB7994-1819-B579-7FFA-EFB0F06DC746}"/>
              </a:ext>
            </a:extLst>
          </p:cNvPr>
          <p:cNvSpPr txBox="1"/>
          <p:nvPr/>
        </p:nvSpPr>
        <p:spPr>
          <a:xfrm>
            <a:off x="7520141" y="5653505"/>
            <a:ext cx="1663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Escrow • Delivery Confirmation • Automated Settlement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4" name="TextBox 17423">
            <a:extLst>
              <a:ext uri="{FF2B5EF4-FFF2-40B4-BE49-F238E27FC236}">
                <a16:creationId xmlns:a16="http://schemas.microsoft.com/office/drawing/2014/main" id="{7B710D42-2508-8BBE-7A26-B343B774C1D8}"/>
              </a:ext>
            </a:extLst>
          </p:cNvPr>
          <p:cNvSpPr txBox="1"/>
          <p:nvPr/>
        </p:nvSpPr>
        <p:spPr>
          <a:xfrm>
            <a:off x="9238726" y="5190280"/>
            <a:ext cx="15727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Logistics Availability</a:t>
            </a:r>
            <a:endParaRPr lang="en-IN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5" name="TextBox 17424">
            <a:extLst>
              <a:ext uri="{FF2B5EF4-FFF2-40B4-BE49-F238E27FC236}">
                <a16:creationId xmlns:a16="http://schemas.microsoft.com/office/drawing/2014/main" id="{0C2D9DD1-468C-DE7E-4B5E-C695C0080602}"/>
              </a:ext>
            </a:extLst>
          </p:cNvPr>
          <p:cNvSpPr txBox="1"/>
          <p:nvPr/>
        </p:nvSpPr>
        <p:spPr>
          <a:xfrm>
            <a:off x="9535370" y="5599078"/>
            <a:ext cx="7968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Verified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partners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6" name="TextBox 17425">
            <a:extLst>
              <a:ext uri="{FF2B5EF4-FFF2-40B4-BE49-F238E27FC236}">
                <a16:creationId xmlns:a16="http://schemas.microsoft.com/office/drawing/2014/main" id="{3CD17474-65C4-CD3C-E15E-2E887A79B61F}"/>
              </a:ext>
            </a:extLst>
          </p:cNvPr>
          <p:cNvSpPr txBox="1"/>
          <p:nvPr/>
        </p:nvSpPr>
        <p:spPr>
          <a:xfrm>
            <a:off x="11067135" y="5216188"/>
            <a:ext cx="1152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Cold – Chain</a:t>
            </a:r>
          </a:p>
          <a:p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</a:t>
            </a:r>
            <a:endParaRPr lang="en-IN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7" name="TextBox 17426">
            <a:extLst>
              <a:ext uri="{FF2B5EF4-FFF2-40B4-BE49-F238E27FC236}">
                <a16:creationId xmlns:a16="http://schemas.microsoft.com/office/drawing/2014/main" id="{56755314-5F19-73AD-59F5-04B14E9C84DF}"/>
              </a:ext>
            </a:extLst>
          </p:cNvPr>
          <p:cNvSpPr txBox="1"/>
          <p:nvPr/>
        </p:nvSpPr>
        <p:spPr>
          <a:xfrm>
            <a:off x="10648568" y="5669379"/>
            <a:ext cx="15434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Suitable vehicle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+ priority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routing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33" name="Shape 19">
            <a:extLst>
              <a:ext uri="{FF2B5EF4-FFF2-40B4-BE49-F238E27FC236}">
                <a16:creationId xmlns:a16="http://schemas.microsoft.com/office/drawing/2014/main" id="{7C317E3D-0600-8F67-FE1C-E649CDF392AB}"/>
              </a:ext>
            </a:extLst>
          </p:cNvPr>
          <p:cNvSpPr/>
          <p:nvPr/>
        </p:nvSpPr>
        <p:spPr>
          <a:xfrm>
            <a:off x="122386" y="1735953"/>
            <a:ext cx="3609086" cy="124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434" name="Shape 20">
            <a:extLst>
              <a:ext uri="{FF2B5EF4-FFF2-40B4-BE49-F238E27FC236}">
                <a16:creationId xmlns:a16="http://schemas.microsoft.com/office/drawing/2014/main" id="{6C77B6DF-A737-FCF3-7A65-8844C7892386}"/>
              </a:ext>
            </a:extLst>
          </p:cNvPr>
          <p:cNvSpPr/>
          <p:nvPr/>
        </p:nvSpPr>
        <p:spPr>
          <a:xfrm>
            <a:off x="366794" y="1805329"/>
            <a:ext cx="464791" cy="449060"/>
          </a:xfrm>
          <a:prstGeom prst="ellipse">
            <a:avLst/>
          </a:prstGeom>
          <a:solidFill>
            <a:srgbClr val="1B6FB0"/>
          </a:solidFill>
          <a:ln/>
          <a:effectLst>
            <a:outerShdw blurRad="50800" dist="1905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7435" name="Image 1" descr="/home/claude/krishisetu/icons/rupee.png">
            <a:extLst>
              <a:ext uri="{FF2B5EF4-FFF2-40B4-BE49-F238E27FC236}">
                <a16:creationId xmlns:a16="http://schemas.microsoft.com/office/drawing/2014/main" id="{3B45F99B-3F9D-6C78-F51A-1063BEE161E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1249" y="1937433"/>
            <a:ext cx="257129" cy="257129"/>
          </a:xfrm>
          <a:prstGeom prst="rect">
            <a:avLst/>
          </a:prstGeom>
        </p:spPr>
      </p:pic>
      <p:sp>
        <p:nvSpPr>
          <p:cNvPr id="17436" name="Shape 23">
            <a:extLst>
              <a:ext uri="{FF2B5EF4-FFF2-40B4-BE49-F238E27FC236}">
                <a16:creationId xmlns:a16="http://schemas.microsoft.com/office/drawing/2014/main" id="{A30AADD8-D668-231A-573C-156939700021}"/>
              </a:ext>
            </a:extLst>
          </p:cNvPr>
          <p:cNvSpPr/>
          <p:nvPr/>
        </p:nvSpPr>
        <p:spPr>
          <a:xfrm>
            <a:off x="1677452" y="1785557"/>
            <a:ext cx="503601" cy="418358"/>
          </a:xfrm>
          <a:prstGeom prst="ellipse">
            <a:avLst/>
          </a:prstGeom>
          <a:solidFill>
            <a:srgbClr val="1B6FB0"/>
          </a:solidFill>
          <a:ln/>
          <a:effectLst>
            <a:outerShdw blurRad="50800" dist="1905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437" name="Image 2" descr="/home/claude/krishisetu/icons/truck.png">
            <a:extLst>
              <a:ext uri="{FF2B5EF4-FFF2-40B4-BE49-F238E27FC236}">
                <a16:creationId xmlns:a16="http://schemas.microsoft.com/office/drawing/2014/main" id="{62693160-C990-276C-891E-DF9AE28EA49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68617" y="1828067"/>
            <a:ext cx="338251" cy="338251"/>
          </a:xfrm>
          <a:prstGeom prst="rect">
            <a:avLst/>
          </a:prstGeom>
        </p:spPr>
      </p:pic>
      <p:sp>
        <p:nvSpPr>
          <p:cNvPr id="17438" name="Shape 26">
            <a:extLst>
              <a:ext uri="{FF2B5EF4-FFF2-40B4-BE49-F238E27FC236}">
                <a16:creationId xmlns:a16="http://schemas.microsoft.com/office/drawing/2014/main" id="{C19D0422-8D59-A959-4405-3AF00B43A39A}"/>
              </a:ext>
            </a:extLst>
          </p:cNvPr>
          <p:cNvSpPr/>
          <p:nvPr/>
        </p:nvSpPr>
        <p:spPr>
          <a:xfrm>
            <a:off x="2868678" y="1802563"/>
            <a:ext cx="453714" cy="392796"/>
          </a:xfrm>
          <a:prstGeom prst="ellipse">
            <a:avLst/>
          </a:prstGeom>
          <a:solidFill>
            <a:srgbClr val="1B6FB0"/>
          </a:solidFill>
          <a:ln/>
          <a:effectLst>
            <a:outerShdw blurRad="50800" dist="1905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7439" name="Image 3" descr="/home/claude/krishisetu/icons/store.png">
            <a:extLst>
              <a:ext uri="{FF2B5EF4-FFF2-40B4-BE49-F238E27FC236}">
                <a16:creationId xmlns:a16="http://schemas.microsoft.com/office/drawing/2014/main" id="{985883E7-7C2C-5D2B-FD86-933A977394D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27918" y="1835515"/>
            <a:ext cx="296110" cy="296110"/>
          </a:xfrm>
          <a:prstGeom prst="rect">
            <a:avLst/>
          </a:prstGeom>
        </p:spPr>
      </p:pic>
      <p:sp>
        <p:nvSpPr>
          <p:cNvPr id="17442" name="TextBox 17441">
            <a:extLst>
              <a:ext uri="{FF2B5EF4-FFF2-40B4-BE49-F238E27FC236}">
                <a16:creationId xmlns:a16="http://schemas.microsoft.com/office/drawing/2014/main" id="{B83103E0-7B81-1395-CD45-266EA9E7296A}"/>
              </a:ext>
            </a:extLst>
          </p:cNvPr>
          <p:cNvSpPr txBox="1"/>
          <p:nvPr/>
        </p:nvSpPr>
        <p:spPr>
          <a:xfrm>
            <a:off x="132440" y="2208282"/>
            <a:ext cx="1264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Commission</a:t>
            </a:r>
          </a:p>
          <a:p>
            <a:r>
              <a:rPr lang="en-US" sz="1200" i="1" dirty="0">
                <a:solidFill>
                  <a:srgbClr val="6B6B6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Per-transaction fee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43" name="TextBox 17442">
            <a:extLst>
              <a:ext uri="{FF2B5EF4-FFF2-40B4-BE49-F238E27FC236}">
                <a16:creationId xmlns:a16="http://schemas.microsoft.com/office/drawing/2014/main" id="{1EBBD4EE-0377-0C7D-9301-070E4E6CB922}"/>
              </a:ext>
            </a:extLst>
          </p:cNvPr>
          <p:cNvSpPr txBox="1"/>
          <p:nvPr/>
        </p:nvSpPr>
        <p:spPr>
          <a:xfrm>
            <a:off x="1396459" y="2187611"/>
            <a:ext cx="123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Logistics Fee</a:t>
            </a:r>
          </a:p>
          <a:p>
            <a:r>
              <a:rPr lang="en-US" sz="1200" i="1" dirty="0">
                <a:solidFill>
                  <a:srgbClr val="6B6B6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Coordination charge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44" name="TextBox 17443">
            <a:extLst>
              <a:ext uri="{FF2B5EF4-FFF2-40B4-BE49-F238E27FC236}">
                <a16:creationId xmlns:a16="http://schemas.microsoft.com/office/drawing/2014/main" id="{65F561A0-D9AE-EC0E-0560-7D5E2DD91938}"/>
              </a:ext>
            </a:extLst>
          </p:cNvPr>
          <p:cNvSpPr txBox="1"/>
          <p:nvPr/>
        </p:nvSpPr>
        <p:spPr>
          <a:xfrm>
            <a:off x="2607235" y="2179069"/>
            <a:ext cx="1128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FPO Tools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>
                <a:solidFill>
                  <a:srgbClr val="6B6B6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Premium subscriptions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50" name="Rectangle 17449">
            <a:extLst>
              <a:ext uri="{FF2B5EF4-FFF2-40B4-BE49-F238E27FC236}">
                <a16:creationId xmlns:a16="http://schemas.microsoft.com/office/drawing/2014/main" id="{F2FBFBF8-4F60-60F9-7DE7-4191B7546DD4}"/>
              </a:ext>
            </a:extLst>
          </p:cNvPr>
          <p:cNvSpPr/>
          <p:nvPr/>
        </p:nvSpPr>
        <p:spPr>
          <a:xfrm>
            <a:off x="3913536" y="4948787"/>
            <a:ext cx="8278464" cy="13426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55" name="TextBox 17454">
            <a:extLst>
              <a:ext uri="{FF2B5EF4-FFF2-40B4-BE49-F238E27FC236}">
                <a16:creationId xmlns:a16="http://schemas.microsoft.com/office/drawing/2014/main" id="{DD36B41F-1AFE-803C-1442-0DC01C3746E2}"/>
              </a:ext>
            </a:extLst>
          </p:cNvPr>
          <p:cNvSpPr txBox="1"/>
          <p:nvPr/>
        </p:nvSpPr>
        <p:spPr>
          <a:xfrm>
            <a:off x="9884376" y="1342364"/>
            <a:ext cx="236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Why it can sustain and scale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462" name="Chart 17461">
            <a:extLst>
              <a:ext uri="{FF2B5EF4-FFF2-40B4-BE49-F238E27FC236}">
                <a16:creationId xmlns:a16="http://schemas.microsoft.com/office/drawing/2014/main" id="{26143484-2C05-132C-E9D8-2A201C6E84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1194181"/>
              </p:ext>
            </p:extLst>
          </p:nvPr>
        </p:nvGraphicFramePr>
        <p:xfrm>
          <a:off x="-178465" y="3328609"/>
          <a:ext cx="2548487" cy="1949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17464" name="Rectangle 17463">
            <a:extLst>
              <a:ext uri="{FF2B5EF4-FFF2-40B4-BE49-F238E27FC236}">
                <a16:creationId xmlns:a16="http://schemas.microsoft.com/office/drawing/2014/main" id="{E5B633D6-7921-82F9-1A26-13B4FA230ADD}"/>
              </a:ext>
            </a:extLst>
          </p:cNvPr>
          <p:cNvSpPr/>
          <p:nvPr/>
        </p:nvSpPr>
        <p:spPr>
          <a:xfrm>
            <a:off x="134119" y="2938014"/>
            <a:ext cx="3619586" cy="469422"/>
          </a:xfrm>
          <a:prstGeom prst="rect">
            <a:avLst/>
          </a:prstGeom>
          <a:solidFill>
            <a:srgbClr val="DCF0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65" name="TextBox 17464">
            <a:extLst>
              <a:ext uri="{FF2B5EF4-FFF2-40B4-BE49-F238E27FC236}">
                <a16:creationId xmlns:a16="http://schemas.microsoft.com/office/drawing/2014/main" id="{0C1C04E6-1AA3-58F5-BD67-67404F1A917A}"/>
              </a:ext>
            </a:extLst>
          </p:cNvPr>
          <p:cNvSpPr txBox="1"/>
          <p:nvPr/>
        </p:nvSpPr>
        <p:spPr>
          <a:xfrm>
            <a:off x="202886" y="2873850"/>
            <a:ext cx="36378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Illustrative Revenue model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Revenue per ₹1,000 order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66" name="Rectangle 17465">
            <a:extLst>
              <a:ext uri="{FF2B5EF4-FFF2-40B4-BE49-F238E27FC236}">
                <a16:creationId xmlns:a16="http://schemas.microsoft.com/office/drawing/2014/main" id="{1E0939F2-A68B-2EFD-A19A-73CFA3267AA5}"/>
              </a:ext>
            </a:extLst>
          </p:cNvPr>
          <p:cNvSpPr/>
          <p:nvPr/>
        </p:nvSpPr>
        <p:spPr>
          <a:xfrm>
            <a:off x="1956396" y="3488731"/>
            <a:ext cx="1794613" cy="1871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67" name="TextBox 17466">
            <a:extLst>
              <a:ext uri="{FF2B5EF4-FFF2-40B4-BE49-F238E27FC236}">
                <a16:creationId xmlns:a16="http://schemas.microsoft.com/office/drawing/2014/main" id="{EE73FA9A-6D06-8938-7A9B-2F34B8AAD61A}"/>
              </a:ext>
            </a:extLst>
          </p:cNvPr>
          <p:cNvSpPr txBox="1"/>
          <p:nvPr/>
        </p:nvSpPr>
        <p:spPr>
          <a:xfrm>
            <a:off x="2048256" y="3567760"/>
            <a:ext cx="1680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    Farmer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    ₹850 (85%)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68" name="TextBox 17467">
            <a:extLst>
              <a:ext uri="{FF2B5EF4-FFF2-40B4-BE49-F238E27FC236}">
                <a16:creationId xmlns:a16="http://schemas.microsoft.com/office/drawing/2014/main" id="{F07B1699-C787-30F7-3CB7-A80F6A0B5FC3}"/>
              </a:ext>
            </a:extLst>
          </p:cNvPr>
          <p:cNvSpPr txBox="1"/>
          <p:nvPr/>
        </p:nvSpPr>
        <p:spPr>
          <a:xfrm>
            <a:off x="2066310" y="4122916"/>
            <a:ext cx="1644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    Logistics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    ₹100 (10%)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69" name="TextBox 17468">
            <a:extLst>
              <a:ext uri="{FF2B5EF4-FFF2-40B4-BE49-F238E27FC236}">
                <a16:creationId xmlns:a16="http://schemas.microsoft.com/office/drawing/2014/main" id="{DE894ADB-3371-7D78-C4F3-65F414958FD5}"/>
              </a:ext>
            </a:extLst>
          </p:cNvPr>
          <p:cNvSpPr txBox="1"/>
          <p:nvPr/>
        </p:nvSpPr>
        <p:spPr>
          <a:xfrm>
            <a:off x="2066310" y="4680052"/>
            <a:ext cx="1579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    Krishi Setu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    Platform Fee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    ₹50 (5%)                </a:t>
            </a:r>
          </a:p>
        </p:txBody>
      </p:sp>
      <p:sp>
        <p:nvSpPr>
          <p:cNvPr id="17470" name="Flowchart: Connector 17469">
            <a:extLst>
              <a:ext uri="{FF2B5EF4-FFF2-40B4-BE49-F238E27FC236}">
                <a16:creationId xmlns:a16="http://schemas.microsoft.com/office/drawing/2014/main" id="{85AB3072-7212-4468-28E9-E88680AECF03}"/>
              </a:ext>
            </a:extLst>
          </p:cNvPr>
          <p:cNvSpPr/>
          <p:nvPr/>
        </p:nvSpPr>
        <p:spPr>
          <a:xfrm>
            <a:off x="2070800" y="3693838"/>
            <a:ext cx="299221" cy="241636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71" name="Flowchart: Connector 17470">
            <a:extLst>
              <a:ext uri="{FF2B5EF4-FFF2-40B4-BE49-F238E27FC236}">
                <a16:creationId xmlns:a16="http://schemas.microsoft.com/office/drawing/2014/main" id="{8F7934CA-1FD1-E134-6961-C0A21FAAD2E0}"/>
              </a:ext>
            </a:extLst>
          </p:cNvPr>
          <p:cNvSpPr/>
          <p:nvPr/>
        </p:nvSpPr>
        <p:spPr>
          <a:xfrm>
            <a:off x="2066309" y="4209596"/>
            <a:ext cx="303711" cy="261722"/>
          </a:xfrm>
          <a:prstGeom prst="flowChartConnector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72" name="Flowchart: Connector 17471">
            <a:extLst>
              <a:ext uri="{FF2B5EF4-FFF2-40B4-BE49-F238E27FC236}">
                <a16:creationId xmlns:a16="http://schemas.microsoft.com/office/drawing/2014/main" id="{03EBF871-C8EF-F6F0-0C22-B7EDFA49DAA7}"/>
              </a:ext>
            </a:extLst>
          </p:cNvPr>
          <p:cNvSpPr/>
          <p:nvPr/>
        </p:nvSpPr>
        <p:spPr>
          <a:xfrm>
            <a:off x="2066310" y="4758667"/>
            <a:ext cx="303712" cy="304435"/>
          </a:xfrm>
          <a:prstGeom prst="flowChartConnector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73" name="TextBox 17472">
            <a:extLst>
              <a:ext uri="{FF2B5EF4-FFF2-40B4-BE49-F238E27FC236}">
                <a16:creationId xmlns:a16="http://schemas.microsoft.com/office/drawing/2014/main" id="{07D42EB2-5CF5-7A1A-88E7-F2F25957CFD1}"/>
              </a:ext>
            </a:extLst>
          </p:cNvPr>
          <p:cNvSpPr txBox="1"/>
          <p:nvPr/>
        </p:nvSpPr>
        <p:spPr>
          <a:xfrm>
            <a:off x="162064" y="5478514"/>
            <a:ext cx="3607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Key Takeaway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Farmers keep most of the order value,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With a small platform fee keeps Krishi Setu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sustainable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880484" y="56590"/>
            <a:ext cx="4431030" cy="60745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0167" y="6476732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1FA742-E817-CE70-8C64-DFA0598DE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567" y="16143"/>
            <a:ext cx="1777224" cy="83917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5010DE-5E64-5E45-A033-55F534465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2800"/>
            <a:ext cx="12191999" cy="2052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2DA8387-2614-87FC-09BB-963250144BE6}"/>
              </a:ext>
            </a:extLst>
          </p:cNvPr>
          <p:cNvSpPr txBox="1">
            <a:spLocks/>
          </p:cNvSpPr>
          <p:nvPr/>
        </p:nvSpPr>
        <p:spPr>
          <a:xfrm>
            <a:off x="11189970" y="6494786"/>
            <a:ext cx="392430" cy="4800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sz="1800" b="1" smtClean="0">
                <a:solidFill>
                  <a:schemeClr val="bg1"/>
                </a:solidFill>
              </a:rPr>
              <a:pPr/>
              <a:t>5</a:t>
            </a:fld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B66C3187-F933-32C1-BAA0-05D0E64B4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574110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8101DD51-E7A7-3432-1F2E-6888F17D94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60806"/>
            <a:ext cx="1552436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Parallax</a:t>
            </a:r>
            <a:endParaRPr lang="en-IN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EF73EC-EB11-0E22-D5A0-28BE2F55B982}"/>
              </a:ext>
            </a:extLst>
          </p:cNvPr>
          <p:cNvSpPr txBox="1"/>
          <p:nvPr/>
        </p:nvSpPr>
        <p:spPr>
          <a:xfrm>
            <a:off x="3945150" y="558360"/>
            <a:ext cx="4610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 Better Prices. Less Waste. Greater Impact.”</a:t>
            </a:r>
            <a:endParaRPr lang="en-IN" sz="18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EDC2B5-1EDD-E11E-E90F-166DCDF370BF}"/>
              </a:ext>
            </a:extLst>
          </p:cNvPr>
          <p:cNvSpPr/>
          <p:nvPr/>
        </p:nvSpPr>
        <p:spPr>
          <a:xfrm>
            <a:off x="162065" y="1171302"/>
            <a:ext cx="4610100" cy="2355295"/>
          </a:xfrm>
          <a:prstGeom prst="roundRect">
            <a:avLst>
              <a:gd name="adj" fmla="val 15930"/>
            </a:avLst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4349C1C5-26A0-520F-AE7E-6D0C3219D2E1}"/>
              </a:ext>
            </a:extLst>
          </p:cNvPr>
          <p:cNvSpPr/>
          <p:nvPr/>
        </p:nvSpPr>
        <p:spPr>
          <a:xfrm>
            <a:off x="1098943" y="1002275"/>
            <a:ext cx="2944321" cy="355600"/>
          </a:xfrm>
          <a:prstGeom prst="flowChartTerminator">
            <a:avLst/>
          </a:prstGeom>
          <a:gradFill>
            <a:gsLst>
              <a:gs pos="29000">
                <a:srgbClr val="008000"/>
              </a:gs>
              <a:gs pos="58000">
                <a:srgbClr val="00B050"/>
              </a:gs>
              <a:gs pos="100000">
                <a:srgbClr val="008000"/>
              </a:gs>
              <a:gs pos="80000">
                <a:srgbClr val="00B050"/>
              </a:gs>
            </a:gsLst>
            <a:lin ang="16200000" scaled="0"/>
          </a:gradFill>
          <a:ln>
            <a:solidFill>
              <a:srgbClr val="00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 BENEFITS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C3013-163F-D8CD-2563-639999CFF164}"/>
              </a:ext>
            </a:extLst>
          </p:cNvPr>
          <p:cNvSpPr txBox="1"/>
          <p:nvPr/>
        </p:nvSpPr>
        <p:spPr>
          <a:xfrm>
            <a:off x="45157" y="2070261"/>
            <a:ext cx="124899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25-35%</a:t>
            </a:r>
          </a:p>
          <a:p>
            <a:pPr algn="ctr"/>
            <a:r>
              <a:rPr lang="en-US" sz="14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income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Better price no middle man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F74B8E-0705-9489-3764-569ECB1372DD}"/>
              </a:ext>
            </a:extLst>
          </p:cNvPr>
          <p:cNvSpPr txBox="1"/>
          <p:nvPr/>
        </p:nvSpPr>
        <p:spPr>
          <a:xfrm>
            <a:off x="1249111" y="2025406"/>
            <a:ext cx="103289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Access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Direct connect to bulk buyers and consumers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53D46B-061F-8097-FE44-632FEBFF6DEF}"/>
              </a:ext>
            </a:extLst>
          </p:cNvPr>
          <p:cNvSpPr txBox="1"/>
          <p:nvPr/>
        </p:nvSpPr>
        <p:spPr>
          <a:xfrm>
            <a:off x="2265857" y="2094243"/>
            <a:ext cx="116520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 Distress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Sell at right time, right place</a:t>
            </a:r>
            <a:r>
              <a:rPr lang="en-U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368201-5E47-4467-BFBB-92BCFB08D486}"/>
              </a:ext>
            </a:extLst>
          </p:cNvPr>
          <p:cNvSpPr txBox="1"/>
          <p:nvPr/>
        </p:nvSpPr>
        <p:spPr>
          <a:xfrm>
            <a:off x="3431065" y="2110878"/>
            <a:ext cx="136140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Guaranteed Payment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Payment released after delivery.</a:t>
            </a: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212440-4D1C-3540-477A-7DF96377839D}"/>
              </a:ext>
            </a:extLst>
          </p:cNvPr>
          <p:cNvCxnSpPr>
            <a:cxnSpLocks/>
          </p:cNvCxnSpPr>
          <p:nvPr/>
        </p:nvCxnSpPr>
        <p:spPr>
          <a:xfrm>
            <a:off x="1192234" y="2236434"/>
            <a:ext cx="0" cy="1031944"/>
          </a:xfrm>
          <a:prstGeom prst="line">
            <a:avLst/>
          </a:prstGeom>
          <a:ln w="19050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Bar graph with upward trend">
            <a:extLst>
              <a:ext uri="{FF2B5EF4-FFF2-40B4-BE49-F238E27FC236}">
                <a16:creationId xmlns:a16="http://schemas.microsoft.com/office/drawing/2014/main" id="{E03FE827-E621-5F91-F9CE-3DD5C58C2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889" y="1392780"/>
            <a:ext cx="596957" cy="596957"/>
          </a:xfrm>
          <a:prstGeom prst="rect">
            <a:avLst/>
          </a:prstGeom>
        </p:spPr>
      </p:pic>
      <p:pic>
        <p:nvPicPr>
          <p:cNvPr id="22" name="Graphic 21" descr="Link">
            <a:extLst>
              <a:ext uri="{FF2B5EF4-FFF2-40B4-BE49-F238E27FC236}">
                <a16:creationId xmlns:a16="http://schemas.microsoft.com/office/drawing/2014/main" id="{F10952E4-2BF5-E79F-9B9D-A751EB50DF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455013" y="1336175"/>
            <a:ext cx="697165" cy="69716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0C6681A-64C7-643E-5C69-9A61B09881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7619" y1="41860" x2="47619" y2="41860"/>
                        <a14:foregroundMark x1="42857" y1="37209" x2="42857" y2="37209"/>
                        <a14:foregroundMark x1="42857" y1="37209" x2="42857" y2="37209"/>
                        <a14:foregroundMark x1="42857" y1="37209" x2="50000" y2="44186"/>
                        <a14:foregroundMark x1="57143" y1="58140" x2="57143" y2="58140"/>
                        <a14:foregroundMark x1="50000" y1="69767" x2="50000" y2="69767"/>
                        <a14:foregroundMark x1="47619" y1="48837" x2="26190" y2="37209"/>
                        <a14:foregroundMark x1="47619" y1="30233" x2="66667" y2="4186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4756" y="1457300"/>
            <a:ext cx="457034" cy="467916"/>
          </a:xfrm>
          <a:prstGeom prst="rect">
            <a:avLst/>
          </a:prstGeom>
          <a:noFill/>
        </p:spPr>
      </p:pic>
      <p:pic>
        <p:nvPicPr>
          <p:cNvPr id="24" name="Graphic 23" descr="Wallet">
            <a:extLst>
              <a:ext uri="{FF2B5EF4-FFF2-40B4-BE49-F238E27FC236}">
                <a16:creationId xmlns:a16="http://schemas.microsoft.com/office/drawing/2014/main" id="{28A2EB45-5DE1-0E64-0F7A-A5D98DD0B3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60089" y="1399158"/>
            <a:ext cx="584200" cy="584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798F7C2-DAF3-4F51-A6FE-48C8517DD0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210" b="95488" l="9945" r="89779">
                        <a14:foregroundMark x1="40331" y1="23849" x2="40331" y2="23849"/>
                        <a14:foregroundMark x1="52831" y1="8656" x2="52831" y2="8656"/>
                        <a14:foregroundMark x1="52831" y1="8656" x2="52831" y2="8656"/>
                        <a14:foregroundMark x1="52831" y1="8656" x2="52831" y2="8656"/>
                        <a14:foregroundMark x1="53108" y1="8656" x2="53108" y2="8656"/>
                        <a14:foregroundMark x1="47445" y1="10037" x2="47445" y2="10037"/>
                        <a14:foregroundMark x1="47445" y1="10037" x2="47652" y2="19982"/>
                        <a14:foregroundMark x1="47652" y1="19982" x2="52624" y2="22560"/>
                        <a14:foregroundMark x1="52624" y1="22560" x2="54351" y2="9392"/>
                        <a14:foregroundMark x1="54351" y1="9392" x2="50829" y2="2855"/>
                        <a14:foregroundMark x1="50829" y1="2855" x2="49862" y2="2210"/>
                        <a14:foregroundMark x1="59599" y1="13812" x2="56561" y2="23112"/>
                        <a14:foregroundMark x1="56561" y1="23112" x2="56215" y2="23665"/>
                        <a14:foregroundMark x1="50691" y1="2302" x2="50691" y2="2302"/>
                        <a14:foregroundMark x1="41091" y1="10681" x2="46409" y2="4144"/>
                        <a14:foregroundMark x1="46409" y1="4144" x2="50207" y2="2486"/>
                        <a14:foregroundMark x1="40677" y1="10497" x2="43992" y2="4696"/>
                        <a14:foregroundMark x1="43992" y1="4696" x2="43992" y2="4696"/>
                        <a14:foregroundMark x1="46202" y1="26980" x2="47859" y2="27348"/>
                        <a14:foregroundMark x1="76105" y1="41989" x2="69682" y2="52394"/>
                        <a14:foregroundMark x1="69682" y1="52394" x2="74033" y2="57090"/>
                        <a14:foregroundMark x1="74033" y1="57090" x2="81077" y2="56722"/>
                        <a14:foregroundMark x1="81077" y1="56722" x2="83702" y2="50000"/>
                        <a14:foregroundMark x1="29075" y1="41160" x2="20442" y2="43370"/>
                        <a14:foregroundMark x1="20442" y1="43370" x2="19751" y2="56630"/>
                        <a14:foregroundMark x1="19751" y1="56630" x2="26174" y2="58379"/>
                        <a14:foregroundMark x1="26174" y1="58379" x2="30525" y2="51473"/>
                        <a14:foregroundMark x1="30525" y1="51473" x2="31215" y2="42357"/>
                        <a14:foregroundMark x1="54834" y1="79190" x2="44959" y2="77624"/>
                        <a14:foregroundMark x1="44959" y1="77624" x2="43439" y2="88214"/>
                        <a14:foregroundMark x1="43439" y1="88214" x2="52279" y2="90331"/>
                        <a14:foregroundMark x1="52279" y1="90331" x2="54834" y2="75506"/>
                        <a14:foregroundMark x1="53591" y1="89963" x2="51450" y2="95488"/>
                        <a14:foregroundMark x1="74586" y1="43186" x2="75069" y2="41989"/>
                        <a14:foregroundMark x1="77072" y1="42541" x2="77555" y2="49171"/>
                        <a14:foregroundMark x1="81215" y1="42818" x2="72859" y2="42541"/>
                        <a14:foregroundMark x1="72859" y1="42541" x2="71340" y2="43186"/>
                        <a14:foregroundMark x1="43854" y1="14180" x2="43854" y2="24125"/>
                        <a14:foregroundMark x1="57182" y1="74125" x2="57320" y2="91713"/>
                        <a14:foregroundMark x1="30939" y1="23665" x2="30939" y2="23665"/>
                        <a14:foregroundMark x1="71961" y1="29006" x2="71961" y2="29006"/>
                        <a14:foregroundMark x1="72307" y1="68324" x2="72307" y2="68324"/>
                        <a14:foregroundMark x1="29489" y1="70350" x2="29489" y2="70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00900" y="2196492"/>
            <a:ext cx="4307067" cy="3270904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4D429A9-F1F8-2F03-9F70-B81208067125}"/>
              </a:ext>
            </a:extLst>
          </p:cNvPr>
          <p:cNvCxnSpPr>
            <a:cxnSpLocks/>
          </p:cNvCxnSpPr>
          <p:nvPr/>
        </p:nvCxnSpPr>
        <p:spPr>
          <a:xfrm>
            <a:off x="2312185" y="2196492"/>
            <a:ext cx="0" cy="1031944"/>
          </a:xfrm>
          <a:prstGeom prst="line">
            <a:avLst/>
          </a:prstGeom>
          <a:ln w="19050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AEAFF32-DE05-9EF5-623C-6739D0C09ACD}"/>
              </a:ext>
            </a:extLst>
          </p:cNvPr>
          <p:cNvCxnSpPr>
            <a:cxnSpLocks/>
          </p:cNvCxnSpPr>
          <p:nvPr/>
        </p:nvCxnSpPr>
        <p:spPr>
          <a:xfrm>
            <a:off x="3431065" y="2177090"/>
            <a:ext cx="0" cy="1031944"/>
          </a:xfrm>
          <a:prstGeom prst="line">
            <a:avLst/>
          </a:prstGeom>
          <a:ln w="19050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726587F8-8B80-7FE4-96AA-82654AF08470}"/>
              </a:ext>
            </a:extLst>
          </p:cNvPr>
          <p:cNvSpPr/>
          <p:nvPr/>
        </p:nvSpPr>
        <p:spPr>
          <a:xfrm>
            <a:off x="883367" y="947375"/>
            <a:ext cx="533872" cy="548489"/>
          </a:xfrm>
          <a:prstGeom prst="ellipse">
            <a:avLst/>
          </a:prstGeom>
          <a:solidFill>
            <a:srgbClr val="00602B"/>
          </a:solidFill>
          <a:ln>
            <a:solidFill>
              <a:srgbClr val="006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Graphic 33" descr="Farmer">
            <a:extLst>
              <a:ext uri="{FF2B5EF4-FFF2-40B4-BE49-F238E27FC236}">
                <a16:creationId xmlns:a16="http://schemas.microsoft.com/office/drawing/2014/main" id="{25B34A87-6EA1-501C-2CC6-99DBD3342D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9244" y="975358"/>
            <a:ext cx="522117" cy="522643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AB881A-FE3E-8B1A-743E-02435B443414}"/>
              </a:ext>
            </a:extLst>
          </p:cNvPr>
          <p:cNvSpPr/>
          <p:nvPr/>
        </p:nvSpPr>
        <p:spPr>
          <a:xfrm>
            <a:off x="162064" y="4123066"/>
            <a:ext cx="4692085" cy="2222211"/>
          </a:xfrm>
          <a:prstGeom prst="roundRect">
            <a:avLst>
              <a:gd name="adj" fmla="val 21765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Flowchart: Terminator 35">
            <a:extLst>
              <a:ext uri="{FF2B5EF4-FFF2-40B4-BE49-F238E27FC236}">
                <a16:creationId xmlns:a16="http://schemas.microsoft.com/office/drawing/2014/main" id="{EC674813-BEBB-5061-0880-F8E618A69A4C}"/>
              </a:ext>
            </a:extLst>
          </p:cNvPr>
          <p:cNvSpPr/>
          <p:nvPr/>
        </p:nvSpPr>
        <p:spPr>
          <a:xfrm>
            <a:off x="911487" y="3961472"/>
            <a:ext cx="3319231" cy="406400"/>
          </a:xfrm>
          <a:prstGeom prst="flowChartTerminator">
            <a:avLst/>
          </a:prstGeom>
          <a:gradFill>
            <a:gsLst>
              <a:gs pos="0">
                <a:schemeClr val="tx2">
                  <a:lumMod val="75000"/>
                </a:schemeClr>
              </a:gs>
              <a:gs pos="87000">
                <a:schemeClr val="tx2">
                  <a:lumMod val="60000"/>
                  <a:lumOff val="40000"/>
                </a:schemeClr>
              </a:gs>
              <a:gs pos="50000">
                <a:srgbClr val="00B0F0"/>
              </a:gs>
              <a:gs pos="24000">
                <a:schemeClr val="tx2">
                  <a:lumMod val="60000"/>
                  <a:lumOff val="40000"/>
                </a:schemeClr>
              </a:gs>
              <a:gs pos="100000">
                <a:srgbClr val="004E9A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BENEFITS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C2E94F-AFF9-18C0-CB53-685CCDFBCD99}"/>
              </a:ext>
            </a:extLst>
          </p:cNvPr>
          <p:cNvSpPr txBox="1"/>
          <p:nvPr/>
        </p:nvSpPr>
        <p:spPr>
          <a:xfrm>
            <a:off x="88906" y="5070875"/>
            <a:ext cx="130925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Prices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No middleman = affordable produce.</a:t>
            </a: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2C593A-54F5-0213-FDDF-0C80DB980AA0}"/>
              </a:ext>
            </a:extLst>
          </p:cNvPr>
          <p:cNvSpPr txBox="1"/>
          <p:nvPr/>
        </p:nvSpPr>
        <p:spPr>
          <a:xfrm>
            <a:off x="1348896" y="5201762"/>
            <a:ext cx="101144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Fresher Produce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Direct farm to door delivery.</a:t>
            </a: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29BAC1-DD02-9192-D38B-E0A0DBB4FE27}"/>
              </a:ext>
            </a:extLst>
          </p:cNvPr>
          <p:cNvSpPr txBox="1"/>
          <p:nvPr/>
        </p:nvSpPr>
        <p:spPr>
          <a:xfrm>
            <a:off x="2313335" y="5184098"/>
            <a:ext cx="12338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Stability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AI forecasting reduce price shocks.</a:t>
            </a: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34838C-FBCF-0D8E-02C6-8DC38BDADA3F}"/>
              </a:ext>
            </a:extLst>
          </p:cNvPr>
          <p:cNvSpPr txBox="1"/>
          <p:nvPr/>
        </p:nvSpPr>
        <p:spPr>
          <a:xfrm>
            <a:off x="3408088" y="5201762"/>
            <a:ext cx="158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Traceability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Digital record of food origin.</a:t>
            </a: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0539DA8-1E5F-16B1-CABA-F37E0F233A02}"/>
              </a:ext>
            </a:extLst>
          </p:cNvPr>
          <p:cNvCxnSpPr>
            <a:cxnSpLocks/>
          </p:cNvCxnSpPr>
          <p:nvPr/>
        </p:nvCxnSpPr>
        <p:spPr>
          <a:xfrm>
            <a:off x="1342426" y="5323589"/>
            <a:ext cx="0" cy="92332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B2BC1DC3-60A7-83A2-78C2-3A72C93381F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70588" y1="51923" x2="78431" y2="153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1311" y="4616798"/>
            <a:ext cx="554994" cy="565876"/>
          </a:xfrm>
          <a:prstGeom prst="rect">
            <a:avLst/>
          </a:prstGeom>
          <a:noFill/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C38D508-0B15-09AB-749C-3B71C01FD2C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>
                        <a14:foregroundMark x1="51724" y1="43636" x2="51724" y2="43636"/>
                        <a14:foregroundMark x1="25862" y1="38182" x2="25862" y2="52727"/>
                        <a14:foregroundMark x1="25862" y1="56364" x2="44828" y2="2909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5255" y="4586197"/>
            <a:ext cx="706162" cy="669636"/>
          </a:xfrm>
          <a:prstGeom prst="rect">
            <a:avLst/>
          </a:prstGeom>
          <a:noFill/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A4ACEB3-6FF4-969E-EBBE-8A016ABD11C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>
                        <a14:foregroundMark x1="47541" y1="38776" x2="55738" y2="32653"/>
                        <a14:foregroundMark x1="81967" y1="22449" x2="67213" y2="612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32109" y="4624407"/>
            <a:ext cx="738494" cy="593216"/>
          </a:xfrm>
          <a:prstGeom prst="rect">
            <a:avLst/>
          </a:prstGeom>
          <a:noFill/>
        </p:spPr>
      </p:pic>
      <p:pic>
        <p:nvPicPr>
          <p:cNvPr id="48" name="Graphic 47" descr="Magnifying glass">
            <a:extLst>
              <a:ext uri="{FF2B5EF4-FFF2-40B4-BE49-F238E27FC236}">
                <a16:creationId xmlns:a16="http://schemas.microsoft.com/office/drawing/2014/main" id="{E9149FC6-E6D5-406F-A859-6025009CCF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0519863">
            <a:off x="3646410" y="4587730"/>
            <a:ext cx="745425" cy="574358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5312F9C3-8571-08C1-6580-F8530DE2FB3B}"/>
              </a:ext>
            </a:extLst>
          </p:cNvPr>
          <p:cNvSpPr/>
          <p:nvPr/>
        </p:nvSpPr>
        <p:spPr>
          <a:xfrm>
            <a:off x="715239" y="3917614"/>
            <a:ext cx="533872" cy="548489"/>
          </a:xfrm>
          <a:prstGeom prst="ellipse">
            <a:avLst/>
          </a:prstGeom>
          <a:solidFill>
            <a:srgbClr val="002060"/>
          </a:solidFill>
          <a:ln>
            <a:solidFill>
              <a:srgbClr val="006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0" name="Graphic 49" descr="User">
            <a:extLst>
              <a:ext uri="{FF2B5EF4-FFF2-40B4-BE49-F238E27FC236}">
                <a16:creationId xmlns:a16="http://schemas.microsoft.com/office/drawing/2014/main" id="{BA9C6C2C-B927-517C-8B77-27A96D4AA6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35541" y="3893356"/>
            <a:ext cx="513570" cy="513570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5787C4C-888E-8D77-A900-5A300C60FA98}"/>
              </a:ext>
            </a:extLst>
          </p:cNvPr>
          <p:cNvCxnSpPr>
            <a:cxnSpLocks/>
          </p:cNvCxnSpPr>
          <p:nvPr/>
        </p:nvCxnSpPr>
        <p:spPr>
          <a:xfrm>
            <a:off x="2360341" y="5323589"/>
            <a:ext cx="0" cy="92332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95842BE-B47A-4AB8-8DD8-79F979BBE5BD}"/>
              </a:ext>
            </a:extLst>
          </p:cNvPr>
          <p:cNvCxnSpPr>
            <a:cxnSpLocks/>
          </p:cNvCxnSpPr>
          <p:nvPr/>
        </p:nvCxnSpPr>
        <p:spPr>
          <a:xfrm>
            <a:off x="3474926" y="5323589"/>
            <a:ext cx="0" cy="92332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EDA0DF7-4618-148D-1F7F-0C11BF6E1E2C}"/>
              </a:ext>
            </a:extLst>
          </p:cNvPr>
          <p:cNvSpPr/>
          <p:nvPr/>
        </p:nvSpPr>
        <p:spPr>
          <a:xfrm>
            <a:off x="7334656" y="1194819"/>
            <a:ext cx="4701761" cy="2331777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F2DD7A-EFE4-AD33-D9A4-C36B39C3A0F8}"/>
              </a:ext>
            </a:extLst>
          </p:cNvPr>
          <p:cNvSpPr txBox="1"/>
          <p:nvPr/>
        </p:nvSpPr>
        <p:spPr>
          <a:xfrm>
            <a:off x="7384731" y="1973695"/>
            <a:ext cx="14807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 Farmer Distress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Better price reduce dependency on moneylenders.</a:t>
            </a: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Flowchart: Terminator 55">
            <a:extLst>
              <a:ext uri="{FF2B5EF4-FFF2-40B4-BE49-F238E27FC236}">
                <a16:creationId xmlns:a16="http://schemas.microsoft.com/office/drawing/2014/main" id="{993F6245-3A68-53E2-198D-D97045B02E18}"/>
              </a:ext>
            </a:extLst>
          </p:cNvPr>
          <p:cNvSpPr/>
          <p:nvPr/>
        </p:nvSpPr>
        <p:spPr>
          <a:xfrm>
            <a:off x="8152201" y="1001151"/>
            <a:ext cx="2944321" cy="355600"/>
          </a:xfrm>
          <a:prstGeom prst="flowChartTerminator">
            <a:avLst/>
          </a:prstGeom>
          <a:gradFill>
            <a:gsLst>
              <a:gs pos="29000">
                <a:srgbClr val="990099"/>
              </a:gs>
              <a:gs pos="58000">
                <a:srgbClr val="A850B4"/>
              </a:gs>
              <a:gs pos="100000">
                <a:srgbClr val="990099"/>
              </a:gs>
              <a:gs pos="80000">
                <a:srgbClr val="A850B4"/>
              </a:gs>
            </a:gsLst>
            <a:lin ang="16200000" scaled="0"/>
          </a:gradFill>
          <a:ln>
            <a:solidFill>
              <a:srgbClr val="00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7F9A35-5DC0-B12F-2851-4428932A868C}"/>
              </a:ext>
            </a:extLst>
          </p:cNvPr>
          <p:cNvSpPr txBox="1"/>
          <p:nvPr/>
        </p:nvSpPr>
        <p:spPr>
          <a:xfrm>
            <a:off x="8845022" y="1919329"/>
            <a:ext cx="17459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Women Empowerment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64% of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agri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-workforce, FPO model gives direct income.</a:t>
            </a: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72791F-7F5C-D402-86A0-D3B13F2BBB23}"/>
              </a:ext>
            </a:extLst>
          </p:cNvPr>
          <p:cNvSpPr txBox="1"/>
          <p:nvPr/>
        </p:nvSpPr>
        <p:spPr>
          <a:xfrm>
            <a:off x="10440720" y="2028140"/>
            <a:ext cx="17459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 Rural Migration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Stable from income reduces migration to cities.</a:t>
            </a: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45AAF20-6129-35AD-083B-765C6D21707A}"/>
              </a:ext>
            </a:extLst>
          </p:cNvPr>
          <p:cNvCxnSpPr>
            <a:cxnSpLocks/>
          </p:cNvCxnSpPr>
          <p:nvPr/>
        </p:nvCxnSpPr>
        <p:spPr>
          <a:xfrm>
            <a:off x="8867002" y="2188590"/>
            <a:ext cx="0" cy="1117558"/>
          </a:xfrm>
          <a:prstGeom prst="line">
            <a:avLst/>
          </a:prstGeom>
          <a:ln w="19050">
            <a:solidFill>
              <a:srgbClr val="990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4203848E-535E-C443-0401-BBD821BFA13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9615" b="88462" l="8696" r="91304">
                        <a14:foregroundMark x1="56522" y1="17308" x2="56522" y2="17308"/>
                        <a14:foregroundMark x1="91304" y1="59615" x2="91304" y2="59615"/>
                        <a14:foregroundMark x1="78261" y1="61538" x2="78261" y2="61538"/>
                        <a14:foregroundMark x1="78261" y1="69231" x2="78261" y2="692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84480" y="1479711"/>
            <a:ext cx="535442" cy="605282"/>
          </a:xfrm>
          <a:prstGeom prst="rect">
            <a:avLst/>
          </a:prstGeom>
          <a:noFill/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97D3EF7-9BA0-A557-0924-A2340A81A4E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94501" y="1495864"/>
            <a:ext cx="517192" cy="548875"/>
          </a:xfrm>
          <a:prstGeom prst="rect">
            <a:avLst/>
          </a:prstGeom>
          <a:noFill/>
        </p:spPr>
      </p:pic>
      <p:pic>
        <p:nvPicPr>
          <p:cNvPr id="17408" name="Graphic 17407" descr="Home">
            <a:extLst>
              <a:ext uri="{FF2B5EF4-FFF2-40B4-BE49-F238E27FC236}">
                <a16:creationId xmlns:a16="http://schemas.microsoft.com/office/drawing/2014/main" id="{465B0046-C12B-6CC9-6BBF-C1843E609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126785" y="1387340"/>
            <a:ext cx="582637" cy="582637"/>
          </a:xfrm>
          <a:prstGeom prst="rect">
            <a:avLst/>
          </a:prstGeom>
        </p:spPr>
      </p:pic>
      <p:sp>
        <p:nvSpPr>
          <p:cNvPr id="17410" name="Oval 17409">
            <a:extLst>
              <a:ext uri="{FF2B5EF4-FFF2-40B4-BE49-F238E27FC236}">
                <a16:creationId xmlns:a16="http://schemas.microsoft.com/office/drawing/2014/main" id="{7583D8B7-AB9F-990E-F84C-1CF6297F8DCE}"/>
              </a:ext>
            </a:extLst>
          </p:cNvPr>
          <p:cNvSpPr/>
          <p:nvPr/>
        </p:nvSpPr>
        <p:spPr>
          <a:xfrm>
            <a:off x="8052955" y="903101"/>
            <a:ext cx="533872" cy="548489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rgbClr val="006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7411" name="Graphic 17410" descr="Users">
            <a:extLst>
              <a:ext uri="{FF2B5EF4-FFF2-40B4-BE49-F238E27FC236}">
                <a16:creationId xmlns:a16="http://schemas.microsoft.com/office/drawing/2014/main" id="{6DA238CB-E265-3514-95F6-BF1BE4DC60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052956" y="855315"/>
            <a:ext cx="577398" cy="577398"/>
          </a:xfrm>
          <a:prstGeom prst="rect">
            <a:avLst/>
          </a:prstGeom>
        </p:spPr>
      </p:pic>
      <p:cxnSp>
        <p:nvCxnSpPr>
          <p:cNvPr id="17413" name="Straight Connector 17412">
            <a:extLst>
              <a:ext uri="{FF2B5EF4-FFF2-40B4-BE49-F238E27FC236}">
                <a16:creationId xmlns:a16="http://schemas.microsoft.com/office/drawing/2014/main" id="{DCE4F009-A5A6-E420-669D-A6732CE65B2E}"/>
              </a:ext>
            </a:extLst>
          </p:cNvPr>
          <p:cNvCxnSpPr>
            <a:cxnSpLocks/>
          </p:cNvCxnSpPr>
          <p:nvPr/>
        </p:nvCxnSpPr>
        <p:spPr>
          <a:xfrm>
            <a:off x="10590928" y="2196492"/>
            <a:ext cx="0" cy="1117558"/>
          </a:xfrm>
          <a:prstGeom prst="line">
            <a:avLst/>
          </a:prstGeom>
          <a:ln w="19050">
            <a:solidFill>
              <a:srgbClr val="990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ectangle: Rounded Corners 17413">
            <a:extLst>
              <a:ext uri="{FF2B5EF4-FFF2-40B4-BE49-F238E27FC236}">
                <a16:creationId xmlns:a16="http://schemas.microsoft.com/office/drawing/2014/main" id="{393810BB-DA4F-34E7-97DC-1FAE810A07F3}"/>
              </a:ext>
            </a:extLst>
          </p:cNvPr>
          <p:cNvSpPr/>
          <p:nvPr/>
        </p:nvSpPr>
        <p:spPr>
          <a:xfrm>
            <a:off x="7328174" y="4105803"/>
            <a:ext cx="4701761" cy="2239474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5" name="Flowchart: Terminator 17414">
            <a:extLst>
              <a:ext uri="{FF2B5EF4-FFF2-40B4-BE49-F238E27FC236}">
                <a16:creationId xmlns:a16="http://schemas.microsoft.com/office/drawing/2014/main" id="{C11833AF-F947-9BA1-CF08-DCC15EA645F8}"/>
              </a:ext>
            </a:extLst>
          </p:cNvPr>
          <p:cNvSpPr/>
          <p:nvPr/>
        </p:nvSpPr>
        <p:spPr>
          <a:xfrm>
            <a:off x="7852200" y="3934538"/>
            <a:ext cx="3819355" cy="311506"/>
          </a:xfrm>
          <a:prstGeom prst="flowChartTerminator">
            <a:avLst/>
          </a:prstGeom>
          <a:gradFill>
            <a:gsLst>
              <a:gs pos="29000">
                <a:srgbClr val="008000"/>
              </a:gs>
              <a:gs pos="58000">
                <a:srgbClr val="00B050"/>
              </a:gs>
              <a:gs pos="100000">
                <a:srgbClr val="008000"/>
              </a:gs>
              <a:gs pos="80000">
                <a:srgbClr val="00B050"/>
              </a:gs>
            </a:gsLst>
            <a:lin ang="16200000" scaled="0"/>
          </a:gradFill>
          <a:ln>
            <a:solidFill>
              <a:srgbClr val="00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87D1FB59-77C1-3E38-AA03-7E0ED5F54334}"/>
              </a:ext>
            </a:extLst>
          </p:cNvPr>
          <p:cNvSpPr txBox="1"/>
          <p:nvPr/>
        </p:nvSpPr>
        <p:spPr>
          <a:xfrm>
            <a:off x="8884804" y="4912800"/>
            <a:ext cx="170612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Emissions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Route optimization cuts fuel use &amp; carbon footprints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7" name="TextBox 17416">
            <a:extLst>
              <a:ext uri="{FF2B5EF4-FFF2-40B4-BE49-F238E27FC236}">
                <a16:creationId xmlns:a16="http://schemas.microsoft.com/office/drawing/2014/main" id="{8A785B52-7200-766F-83F8-69C20290260A}"/>
              </a:ext>
            </a:extLst>
          </p:cNvPr>
          <p:cNvSpPr txBox="1"/>
          <p:nvPr/>
        </p:nvSpPr>
        <p:spPr>
          <a:xfrm>
            <a:off x="10062057" y="4929505"/>
            <a:ext cx="201824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16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 Methane</a:t>
            </a:r>
          </a:p>
          <a:p>
            <a:pPr lvl="1"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Less rotting food = less decomposition based methane release.</a:t>
            </a: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418" name="Straight Connector 17417">
            <a:extLst>
              <a:ext uri="{FF2B5EF4-FFF2-40B4-BE49-F238E27FC236}">
                <a16:creationId xmlns:a16="http://schemas.microsoft.com/office/drawing/2014/main" id="{B9AD442C-49F3-3811-21A6-A7362B3974A7}"/>
              </a:ext>
            </a:extLst>
          </p:cNvPr>
          <p:cNvCxnSpPr>
            <a:cxnSpLocks/>
          </p:cNvCxnSpPr>
          <p:nvPr/>
        </p:nvCxnSpPr>
        <p:spPr>
          <a:xfrm>
            <a:off x="8969780" y="5201762"/>
            <a:ext cx="0" cy="1010363"/>
          </a:xfrm>
          <a:prstGeom prst="line">
            <a:avLst/>
          </a:prstGeom>
          <a:ln w="19050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22" name="Picture 17421">
            <a:extLst>
              <a:ext uri="{FF2B5EF4-FFF2-40B4-BE49-F238E27FC236}">
                <a16:creationId xmlns:a16="http://schemas.microsoft.com/office/drawing/2014/main" id="{30A5DB1A-DDE7-7EF6-6CFF-A0EBF52C3FC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>
                        <a14:foregroundMark x1="50000" y1="28846" x2="50000" y2="28846"/>
                        <a14:foregroundMark x1="45000" y1="34615" x2="45000" y2="34615"/>
                        <a14:foregroundMark x1="40000" y1="57692" x2="40000" y2="57692"/>
                        <a14:foregroundMark x1="15000" y1="57692" x2="15000" y2="57692"/>
                        <a14:foregroundMark x1="17500" y1="61538" x2="72500" y2="615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27120" y="4355515"/>
            <a:ext cx="503930" cy="655109"/>
          </a:xfrm>
          <a:prstGeom prst="rect">
            <a:avLst/>
          </a:prstGeom>
          <a:noFill/>
        </p:spPr>
      </p:pic>
      <p:pic>
        <p:nvPicPr>
          <p:cNvPr id="17423" name="Picture 17422">
            <a:extLst>
              <a:ext uri="{FF2B5EF4-FFF2-40B4-BE49-F238E27FC236}">
                <a16:creationId xmlns:a16="http://schemas.microsoft.com/office/drawing/2014/main" id="{70A9FFEA-77B0-55B5-EF69-7FAF7284C0C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10000" b="90000" l="10000" r="90000">
                        <a14:foregroundMark x1="8621" y1="39216" x2="10345" y2="39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29953" y="4439772"/>
            <a:ext cx="634358" cy="557797"/>
          </a:xfrm>
          <a:prstGeom prst="rect">
            <a:avLst/>
          </a:prstGeom>
          <a:noFill/>
        </p:spPr>
      </p:pic>
      <p:pic>
        <p:nvPicPr>
          <p:cNvPr id="17424" name="Picture 17423">
            <a:extLst>
              <a:ext uri="{FF2B5EF4-FFF2-40B4-BE49-F238E27FC236}">
                <a16:creationId xmlns:a16="http://schemas.microsoft.com/office/drawing/2014/main" id="{2B242ECA-27E1-A3B0-5AB0-3A97F8D8B34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7692" b="88462" l="8333" r="89583">
                        <a14:foregroundMark x1="22917" y1="19231" x2="22917" y2="19231"/>
                        <a14:foregroundMark x1="33333" y1="7692" x2="33333" y2="769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9970" y="4434457"/>
            <a:ext cx="538766" cy="583663"/>
          </a:xfrm>
          <a:prstGeom prst="rect">
            <a:avLst/>
          </a:prstGeom>
          <a:noFill/>
        </p:spPr>
      </p:pic>
      <p:sp>
        <p:nvSpPr>
          <p:cNvPr id="17425" name="TextBox 17424">
            <a:extLst>
              <a:ext uri="{FF2B5EF4-FFF2-40B4-BE49-F238E27FC236}">
                <a16:creationId xmlns:a16="http://schemas.microsoft.com/office/drawing/2014/main" id="{B5F8B82B-9CA9-B560-E103-C10592B7C576}"/>
              </a:ext>
            </a:extLst>
          </p:cNvPr>
          <p:cNvSpPr txBox="1"/>
          <p:nvPr/>
        </p:nvSpPr>
        <p:spPr>
          <a:xfrm>
            <a:off x="7263655" y="5003270"/>
            <a:ext cx="170612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 Food Waste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Efficient logistics reduces 40% pre-market spoilage.</a:t>
            </a:r>
            <a:endParaRPr lang="en-IN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7" name="Oval 17426">
            <a:extLst>
              <a:ext uri="{FF2B5EF4-FFF2-40B4-BE49-F238E27FC236}">
                <a16:creationId xmlns:a16="http://schemas.microsoft.com/office/drawing/2014/main" id="{2E17C4FC-2B86-54D6-3381-5E408998580D}"/>
              </a:ext>
            </a:extLst>
          </p:cNvPr>
          <p:cNvSpPr/>
          <p:nvPr/>
        </p:nvSpPr>
        <p:spPr>
          <a:xfrm>
            <a:off x="7571507" y="3847097"/>
            <a:ext cx="533872" cy="548489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6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7428" name="Picture 17427">
            <a:extLst>
              <a:ext uri="{FF2B5EF4-FFF2-40B4-BE49-F238E27FC236}">
                <a16:creationId xmlns:a16="http://schemas.microsoft.com/office/drawing/2014/main" id="{07B83958-B453-C87C-0838-03CE016E0C0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0000" r="90000">
                        <a14:foregroundMark x1="25468" y1="64439" x2="25468" y2="64439"/>
                        <a14:foregroundMark x1="73034" y1="62299" x2="73034" y2="622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22615" y="3836745"/>
            <a:ext cx="659169" cy="461665"/>
          </a:xfrm>
          <a:prstGeom prst="rect">
            <a:avLst/>
          </a:prstGeom>
          <a:ln>
            <a:noFill/>
          </a:ln>
        </p:spPr>
      </p:pic>
      <p:cxnSp>
        <p:nvCxnSpPr>
          <p:cNvPr id="17430" name="Straight Connector 17429">
            <a:extLst>
              <a:ext uri="{FF2B5EF4-FFF2-40B4-BE49-F238E27FC236}">
                <a16:creationId xmlns:a16="http://schemas.microsoft.com/office/drawing/2014/main" id="{41D45A07-3162-C16A-ADD1-0692F5B29B97}"/>
              </a:ext>
            </a:extLst>
          </p:cNvPr>
          <p:cNvCxnSpPr>
            <a:cxnSpLocks/>
          </p:cNvCxnSpPr>
          <p:nvPr/>
        </p:nvCxnSpPr>
        <p:spPr>
          <a:xfrm>
            <a:off x="10544539" y="5145506"/>
            <a:ext cx="0" cy="1010363"/>
          </a:xfrm>
          <a:prstGeom prst="line">
            <a:avLst/>
          </a:prstGeom>
          <a:ln w="19050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5F88BB-520C-63F5-8B53-08BC1F867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2800"/>
            <a:ext cx="12191999" cy="2052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181634C-2422-5575-0EA6-C486B925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9970" y="6494786"/>
            <a:ext cx="392430" cy="480012"/>
          </a:xfrm>
        </p:spPr>
        <p:txBody>
          <a:bodyPr/>
          <a:lstStyle/>
          <a:p>
            <a:fld id="{677C3CE7-23F7-4828-823C-E0205DF2CF97}" type="slidenum">
              <a:rPr lang="en-US" sz="1800" b="1">
                <a:solidFill>
                  <a:schemeClr val="bg1"/>
                </a:solidFill>
              </a:rPr>
              <a:pPr/>
              <a:t>6</a:t>
            </a:fld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BAD7E874-0A0D-84B2-3AFA-1EA3C0F6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574110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8926CE-B914-498E-20EC-97083060D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567" y="16143"/>
            <a:ext cx="1777224" cy="839172"/>
          </a:xfrm>
          <a:prstGeom prst="rect">
            <a:avLst/>
          </a:prstGeom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A8F17E2F-A9DD-5210-47B3-B371A8543E2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60806"/>
            <a:ext cx="1552436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Parallax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8466</TotalTime>
  <Words>1013</Words>
  <Application>Microsoft Office PowerPoint</Application>
  <PresentationFormat>Widescreen</PresentationFormat>
  <Paragraphs>238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Krishna Sharma</cp:lastModifiedBy>
  <cp:revision>174</cp:revision>
  <dcterms:created xsi:type="dcterms:W3CDTF">2013-12-12T18:46:50Z</dcterms:created>
  <dcterms:modified xsi:type="dcterms:W3CDTF">2026-09-13T11:25:25Z</dcterms:modified>
  <cp:category/>
</cp:coreProperties>
</file>